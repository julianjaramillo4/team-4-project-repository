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f183165d3a4de0" /><Relationship Type="http://schemas.openxmlformats.org/officeDocument/2006/relationships/extended-properties" Target="/docProps/app.xml" Id="Re64e378343164883" /><Relationship Type="http://schemas.openxmlformats.org/officeDocument/2006/relationships/officeDocument" Target="/ppt/presentation.xml" Id="R3dc613e093914a94" /></Relationships>
</file>

<file path=ppt/presentation.xml><?xml version="1.0" encoding="utf-8"?>
<p:presentation xmlns:p="http://schemas.openxmlformats.org/presentationml/2006/main">
  <p:sldMasterIdLst>
    <p:sldMasterId xmlns:r="http://schemas.openxmlformats.org/officeDocument/2006/relationships" id="2147483648" r:id="Re8dc3573ca4e4330"/>
  </p:sldMasterIdLst>
  <p:notesMasterIdLst>
    <p:notesMasterId xmlns:r="http://schemas.openxmlformats.org/officeDocument/2006/relationships" r:id="R68d72a806c174d96"/>
  </p:notesMasterIdLst>
  <p:sldIdLst>
    <p:sldId xmlns:r="http://schemas.openxmlformats.org/officeDocument/2006/relationships" id="256" r:id="R9c2a35cd993b4605"/>
    <p:sldId xmlns:r="http://schemas.openxmlformats.org/officeDocument/2006/relationships" id="257" r:id="R52038431b3f8422f"/>
    <p:sldId xmlns:r="http://schemas.openxmlformats.org/officeDocument/2006/relationships" id="258" r:id="Rb5e5518de35d46eb"/>
    <p:sldId xmlns:r="http://schemas.openxmlformats.org/officeDocument/2006/relationships" id="259" r:id="Rcbe983df3c2f4a1f"/>
    <p:sldId xmlns:r="http://schemas.openxmlformats.org/officeDocument/2006/relationships" id="260" r:id="Rebc168b52b8a46ba"/>
    <p:sldId xmlns:r="http://schemas.openxmlformats.org/officeDocument/2006/relationships" id="261" r:id="R58baf22b90984226"/>
    <p:sldId xmlns:r="http://schemas.openxmlformats.org/officeDocument/2006/relationships" id="262" r:id="Reb0692edd4c54d90"/>
    <p:sldId xmlns:r="http://schemas.openxmlformats.org/officeDocument/2006/relationships" id="263" r:id="R3db0bb8814ca4cdb"/>
    <p:sldId xmlns:r="http://schemas.openxmlformats.org/officeDocument/2006/relationships" id="264" r:id="Ra9f6d7a52d99458e"/>
    <p:sldId xmlns:r="http://schemas.openxmlformats.org/officeDocument/2006/relationships" id="265" r:id="R5c8f0628fc4b45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069ecb5c544af1" /><Relationship Type="http://schemas.openxmlformats.org/officeDocument/2006/relationships/slideMaster" Target="/ppt/slideMasters/slideMaster1.xml" Id="Re8dc3573ca4e4330" /><Relationship Type="http://schemas.openxmlformats.org/officeDocument/2006/relationships/notesMaster" Target="/ppt/notesMasters/notesMaster1.xml" Id="R68d72a806c174d96" /><Relationship Type="http://schemas.openxmlformats.org/officeDocument/2006/relationships/presProps" Target="/ppt/presProps.xml" Id="R61487b7a781b48b6" /><Relationship Type="http://schemas.openxmlformats.org/officeDocument/2006/relationships/tableStyles" Target="/ppt/tableStyles.xml" Id="R147ab8786cfa46d0" /><Relationship Type="http://schemas.openxmlformats.org/officeDocument/2006/relationships/slide" Target="/ppt/slides/slide1.xml" Id="R9c2a35cd993b4605" /><Relationship Type="http://schemas.openxmlformats.org/officeDocument/2006/relationships/slide" Target="/ppt/slides/slide2.xml" Id="R52038431b3f8422f" /><Relationship Type="http://schemas.openxmlformats.org/officeDocument/2006/relationships/slide" Target="/ppt/slides/slide3.xml" Id="Rb5e5518de35d46eb" /><Relationship Type="http://schemas.openxmlformats.org/officeDocument/2006/relationships/slide" Target="/ppt/slides/slide4.xml" Id="Rcbe983df3c2f4a1f" /><Relationship Type="http://schemas.openxmlformats.org/officeDocument/2006/relationships/slide" Target="/ppt/slides/slide5.xml" Id="Rebc168b52b8a46ba" /><Relationship Type="http://schemas.openxmlformats.org/officeDocument/2006/relationships/slide" Target="/ppt/slides/slide6.xml" Id="R58baf22b90984226" /><Relationship Type="http://schemas.openxmlformats.org/officeDocument/2006/relationships/slide" Target="/ppt/slides/slide7.xml" Id="Reb0692edd4c54d90" /><Relationship Type="http://schemas.openxmlformats.org/officeDocument/2006/relationships/slide" Target="/ppt/slides/slide8.xml" Id="R3db0bb8814ca4cdb" /><Relationship Type="http://schemas.openxmlformats.org/officeDocument/2006/relationships/slide" Target="/ppt/slides/slide9.xml" Id="Ra9f6d7a52d99458e" /><Relationship Type="http://schemas.openxmlformats.org/officeDocument/2006/relationships/slide" Target="/ppt/slides/slide10.xml" Id="R5c8f0628fc4b45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949cee346a49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5664a26bae4f0d" /><Relationship Type="http://schemas.openxmlformats.org/officeDocument/2006/relationships/notesMaster" Target="/ppt/notesMasters/notesMaster1.xml" Id="Rdaa0304ee68141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e9b49add454fed" /><Relationship Type="http://schemas.openxmlformats.org/officeDocument/2006/relationships/notesMaster" Target="/ppt/notesMasters/notesMaster1.xml" Id="R63bdfef5bab54b5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8edf02c52b4478" /><Relationship Type="http://schemas.openxmlformats.org/officeDocument/2006/relationships/notesMaster" Target="/ppt/notesMasters/notesMaster1.xml" Id="R72ab6cb66aa142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2618c64e2447f7" /><Relationship Type="http://schemas.openxmlformats.org/officeDocument/2006/relationships/notesMaster" Target="/ppt/notesMasters/notesMaster1.xml" Id="Re82c2bd1196046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b644f33fd7a44c9" /><Relationship Type="http://schemas.openxmlformats.org/officeDocument/2006/relationships/notesMaster" Target="/ppt/notesMasters/notesMaster1.xml" Id="R4ce42fcedf2346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8731cf65f94bd0" /><Relationship Type="http://schemas.openxmlformats.org/officeDocument/2006/relationships/notesMaster" Target="/ppt/notesMasters/notesMaster1.xml" Id="R02ba1b25c75e4b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62838f12734ea4" /><Relationship Type="http://schemas.openxmlformats.org/officeDocument/2006/relationships/notesMaster" Target="/ppt/notesMasters/notesMaster1.xml" Id="R1a47b071ba3e43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bac4658f6b49d8" /><Relationship Type="http://schemas.openxmlformats.org/officeDocument/2006/relationships/notesMaster" Target="/ppt/notesMasters/notesMaster1.xml" Id="Ra0f45760c78d48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ba3412a2e3417b" /><Relationship Type="http://schemas.openxmlformats.org/officeDocument/2006/relationships/notesMaster" Target="/ppt/notesMasters/notesMaster1.xml" Id="Re873e29bb7ba42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00ba441eea4350" /><Relationship Type="http://schemas.openxmlformats.org/officeDocument/2006/relationships/notesMaster" Target="/ppt/notesMasters/notesMaster1.xml" Id="Rcfb91279262a46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Today we will present Flowdesk. It is a Java system for a print shop. It helps us organize customers, orders, and payments.</a:t>
            </a:r>
          </a:p>
          <a:p xmlns:a="http://schemas.openxmlformats.org/drawingml/2006/main">
            <a:r>
              <a:t/>
            </a:r>
          </a:p>
          <a:p xmlns:a="http://schemas.openxmlformats.org/drawingml/2006/main">
            <a:r>
              <a:t>Project source: 06Code/Flowdesk/src/main/java/Flowdesk.java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goal is to organize the work of a print shop. We keep customer information. We create orders and record payments. We also export reports.</a:t>
            </a:r>
          </a:p>
          <a:p xmlns:a="http://schemas.openxmlformats.org/drawingml/2006/main">
            <a:r>
              <a:t/>
            </a:r>
          </a:p>
          <a:p xmlns:a="http://schemas.openxmlformats.org/drawingml/2006/main">
            <a:r>
              <a:t>Project source: 06Code/Flowdesk/src/main/java/models/WorkOrder.java; reports/ReportGenerator.java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employee works with customers and orders. The cashier records payments. The manager checks reports and the cash balance.</a:t>
            </a:r>
          </a:p>
          <a:p xmlns:a="http://schemas.openxmlformats.org/drawingml/2006/main">
            <a:r>
              <a:t/>
            </a:r>
          </a:p>
          <a:p xmlns:a="http://schemas.openxmlformats.org/drawingml/2006/main">
            <a:r>
              <a:t>Project source: 06Code/Flowdesk/src/main/java/Flowdesk.java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we select a customer. Then we add products or services. We create the order and record a payment. Finally, we check the remaining balance.</a:t>
            </a:r>
          </a:p>
          <a:p xmlns:a="http://schemas.openxmlformats.org/drawingml/2006/main">
            <a:r>
              <a:t/>
            </a:r>
          </a:p>
          <a:p xmlns:a="http://schemas.openxmlformats.org/drawingml/2006/main">
            <a:r>
              <a:t>Project source: 06Code/Flowdesk/src/main/java/models/WorkOrder.java; models/Payment.java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class represents an object in the business. Customer stores customer information. WorkOrder groups the order details and payments. CashRegister keeps the cash totals.</a:t>
            </a:r>
          </a:p>
          <a:p xmlns:a="http://schemas.openxmlformats.org/drawingml/2006/main">
            <a:r>
              <a:t/>
            </a:r>
          </a:p>
          <a:p xmlns:a="http://schemas.openxmlformats.org/drawingml/2006/main">
            <a:r>
              <a:t>Project source: 06Code/Flowdesk/src/main/java/models/Customer.java; models/CatalogItem.java; models/WorkOrder.java; models/CashRegister.java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 four object-oriented programming concepts. We protect data with private fields. Product and Service inherit from CatalogItem. CatalogItem is abstract. Each child class has its own getItemType method.</a:t>
            </a:r>
          </a:p>
          <a:p xmlns:a="http://schemas.openxmlformats.org/drawingml/2006/main">
            <a:r>
              <a:t/>
            </a:r>
          </a:p>
          <a:p xmlns:a="http://schemas.openxmlformats.org/drawingml/2006/main">
            <a:r>
              <a:t>Project source: 06Code/Flowdesk/src/main/java/models/CatalogItem.java; models/Product.java; models/Service.java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DataManager handles the files. Gson converts Java objects to JSON and back. The system loads data at startup. It saves data during normal shutdown, so we can open the program again and keep our information.</a:t>
            </a:r>
          </a:p>
          <a:p xmlns:a="http://schemas.openxmlformats.org/drawingml/2006/main">
            <a:r>
              <a:t/>
            </a:r>
          </a:p>
          <a:p xmlns:a="http://schemas.openxmlformats.org/drawingml/2006/main">
            <a:r>
              <a:t>Project source: 06Code/Flowdesk/src/main/java/data/DataManager.java; Flowdesk.java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example with fictional data. The order costs thirty-five dollars. The customer pays ten dollars. The remaining balance is twenty-five dollars. Cash starts with one hundred dollars. After the payment and a twelve-dollar expense, the balance is ninety-eight dollars.</a:t>
            </a:r>
          </a:p>
          <a:p xmlns:a="http://schemas.openxmlformats.org/drawingml/2006/main">
            <a:r>
              <a:t/>
            </a:r>
          </a:p>
          <a:p xmlns:a="http://schemas.openxmlformats.org/drawingml/2006/main">
            <a:r>
              <a:t>Project source: 06Code/Flowdesk/src/main/java/../../datos_flowdesk/orders.json; ../../datos_flowdesk/movements.json; ../../datos_flowdesk/cash_register.json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checks required fields and amounts. Login also checks the selected role. We use exceptions to show errors. We export orders and cash movements to CSV files.</a:t>
            </a:r>
          </a:p>
          <a:p xmlns:a="http://schemas.openxmlformats.org/drawingml/2006/main">
            <a:r>
              <a:t/>
            </a:r>
          </a:p>
          <a:p xmlns:a="http://schemas.openxmlformats.org/drawingml/2006/main">
            <a:r>
              <a:t>Project source: 06Code/Flowdesk/src/main/java/utils/Validation.java; utils/ConsoleInput.java; models/User.java; reports/ReportGenerator.java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will show the system. We will open the customer list and the catalog. Then we will show an order, its payment, and the cash balance. Finally, we will export a report and open the JSON files. Thank you. Do you have any questions?</a:t>
            </a:r>
          </a:p>
          <a:p xmlns:a="http://schemas.openxmlformats.org/drawingml/2006/main">
            <a:r>
              <a:t/>
            </a:r>
          </a:p>
          <a:p xmlns:a="http://schemas.openxmlformats.org/drawingml/2006/main">
            <a:r>
              <a:t>Project source: 06Code/Flowdesk/src/main/java/Flowdesk.java; data/DataManager.java; reports/ReportGenerator.java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4a430d620f43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543ae529dbb4a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7a729c611e243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cde76246fc45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9e083e7c8e413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c0b830446843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3B36A4-7979-4764-B3FC-A39EC681BF8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D8EAAE-8561-4016-963B-E25A732871B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525F6E-6241-498E-AFB6-5CD694D3F06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BB5B55-C5F2-4BAF-8B8F-534DC7312A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6764138-867F-4109-9841-B05D6D5529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B63E03-FB9C-4202-A513-EBD52470D5F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E494E5-CC79-47C0-AA62-538B9295BF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BE3B9CC-B25B-430C-A38B-CD21D859F85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E4A448-32E8-4D42-BD19-EB71E5468F8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76A662-F16A-4B71-B696-1FA3427D9E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14807fa3c94364" /><Relationship Type="http://schemas.openxmlformats.org/officeDocument/2006/relationships/slideLayout" Target="/ppt/slideLayouts/slideLayout1.xml" Id="R3f2d8276d9154fe4" /><Relationship Type="http://schemas.openxmlformats.org/officeDocument/2006/relationships/slideLayout" Target="/ppt/slideLayouts/slideLayout2.xml" Id="R84dfb0db41814067" /><Relationship Type="http://schemas.openxmlformats.org/officeDocument/2006/relationships/slideLayout" Target="/ppt/slideLayouts/slideLayout3.xml" Id="R4734a7af75724ae0" /><Relationship Type="http://schemas.openxmlformats.org/officeDocument/2006/relationships/slideLayout" Target="/ppt/slideLayouts/slideLayout4.xml" Id="R300adfdb3cd74549" /><Relationship Type="http://schemas.openxmlformats.org/officeDocument/2006/relationships/slideLayout" Target="/ppt/slideLayouts/slideLayout5.xml" Id="Rc61ca7b7388b416a" /><Relationship Type="http://schemas.openxmlformats.org/officeDocument/2006/relationships/slideLayout" Target="/ppt/slideLayouts/slideLayout6.xml" Id="R54acd463954644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2d8276d9154fe4"/>
    <p:sldLayoutId xmlns:r="http://schemas.openxmlformats.org/officeDocument/2006/relationships" id="2147483650" r:id="R84dfb0db41814067"/>
    <p:sldLayoutId xmlns:r="http://schemas.openxmlformats.org/officeDocument/2006/relationships" id="2147483651" r:id="R4734a7af75724ae0"/>
    <p:sldLayoutId xmlns:r="http://schemas.openxmlformats.org/officeDocument/2006/relationships" id="2147483652" r:id="R300adfdb3cd74549"/>
    <p:sldLayoutId xmlns:r="http://schemas.openxmlformats.org/officeDocument/2006/relationships" id="2147483653" r:id="Rc61ca7b7388b416a"/>
    <p:sldLayoutId xmlns:r="http://schemas.openxmlformats.org/officeDocument/2006/relationships" id="2147483654" r:id="R54acd463954644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afe4a12871d432a" /><Relationship Type="http://schemas.openxmlformats.org/officeDocument/2006/relationships/notesSlide" Target="/ppt/notesSlides/notesSlide1.xml" Id="R036910a07bab4c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96c25e24a2f4b74" /><Relationship Type="http://schemas.openxmlformats.org/officeDocument/2006/relationships/notesSlide" Target="/ppt/notesSlides/notesSlide2.xml" Id="Reb9fd39030ac43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c458c98413c4fc0" /><Relationship Type="http://schemas.openxmlformats.org/officeDocument/2006/relationships/notesSlide" Target="/ppt/notesSlides/notesSlide3.xml" Id="R8312098e320a41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10d3d7f68b24737" /><Relationship Type="http://schemas.openxmlformats.org/officeDocument/2006/relationships/notesSlide" Target="/ppt/notesSlides/notesSlide4.xml" Id="R63871f7f596c40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17bc82610554180" /><Relationship Type="http://schemas.openxmlformats.org/officeDocument/2006/relationships/notesSlide" Target="/ppt/notesSlides/notesSlide5.xml" Id="R4a971ffada2a4f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bb8577af4324d21" /><Relationship Type="http://schemas.openxmlformats.org/officeDocument/2006/relationships/notesSlide" Target="/ppt/notesSlides/notesSlide6.xml" Id="R508ff119ae1848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f16d8da95ca4e9c" /><Relationship Type="http://schemas.openxmlformats.org/officeDocument/2006/relationships/notesSlide" Target="/ppt/notesSlides/notesSlide7.xml" Id="R64b086d9fd4544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e3521b7887d4cbe" /><Relationship Type="http://schemas.openxmlformats.org/officeDocument/2006/relationships/notesSlide" Target="/ppt/notesSlides/notesSlide8.xml" Id="R511742748ad349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245321e3b7a4bb1" /><Relationship Type="http://schemas.openxmlformats.org/officeDocument/2006/relationships/notesSlide" Target="/ppt/notesSlides/notesSlide9.xml" Id="Re989b6291bb9449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943ba1f711d4a69" /><Relationship Type="http://schemas.openxmlformats.org/officeDocument/2006/relationships/notesSlide" Target="/ppt/notesSlides/notesSlide10.xml" Id="R8855faee1c8d4e30" /></Relationships>
</file>

<file path=ppt/slides/slide1.xml><?xml version="1.0" encoding="utf-8"?>
<p:sld xmlns:p="http://schemas.openxmlformats.org/presentationml/2006/main">
  <p:cSld>
    <p:bg>
      <p:bgPr>
        <a:solidFill xmlns:a="http://schemas.openxmlformats.org/drawingml/2006/main">
          <a:srgbClr val="132C3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C6E6AB-FF13-4747-AB92-1896212D2B96}"/>
              </a:ext>
            </a:extLst>
          </p:cNvPr>
          <p:cNvSpPr>
            <a:spLocks xmlns:a="http://schemas.openxmlformats.org/drawingml/2006/main" noGrp="1"/>
          </p:cNvSpPr>
          <p:nvPr/>
        </p:nvSpPr>
        <p:spPr>
          <a:xfrm xmlns:a="http://schemas.openxmlformats.org/drawingml/2006/main">
            <a:off x="723900" y="523875"/>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A5DED4"/>
                </a:solidFill>
              </a:defRPr>
            </a:defPPr>
            <a:lvl1pPr>
              <a:defRPr sz="1650" b="0">
                <a:solidFill>
                  <a:srgbClr val="A5DED4"/>
                </a:solidFill>
              </a:defRPr>
            </a:lvl1pPr>
            <a:lvl2pPr>
              <a:defRPr sz="1650" b="0">
                <a:solidFill>
                  <a:srgbClr val="A5DED4"/>
                </a:solidFill>
              </a:defRPr>
            </a:lvl2pPr>
            <a:lvl3pPr>
              <a:defRPr sz="1650" b="0">
                <a:solidFill>
                  <a:srgbClr val="A5DED4"/>
                </a:solidFill>
              </a:defRPr>
            </a:lvl3pPr>
            <a:lvl4pPr>
              <a:defRPr sz="1650" b="0">
                <a:solidFill>
                  <a:srgbClr val="A5DED4"/>
                </a:solidFill>
              </a:defRPr>
            </a:lvl4pPr>
            <a:lvl5pPr>
              <a:defRPr sz="1650" b="0">
                <a:solidFill>
                  <a:srgbClr val="A5DED4"/>
                </a:solidFill>
              </a:defRPr>
            </a:lvl5pPr>
            <a:lvl6pPr>
              <a:defRPr sz="1650" b="0">
                <a:solidFill>
                  <a:srgbClr val="A5DED4"/>
                </a:solidFill>
              </a:defRPr>
            </a:lvl6pPr>
            <a:lvl7pPr>
              <a:defRPr sz="1650" b="0">
                <a:solidFill>
                  <a:srgbClr val="A5DED4"/>
                </a:solidFill>
              </a:defRPr>
            </a:lvl7pPr>
            <a:lvl8pPr>
              <a:defRPr sz="1650" b="0">
                <a:solidFill>
                  <a:srgbClr val="A5DED4"/>
                </a:solidFill>
              </a:defRPr>
            </a:lvl8pPr>
            <a:lvl9pPr>
              <a:defRPr sz="1650" b="0">
                <a:solidFill>
                  <a:srgbClr val="A5DED4"/>
                </a:solidFill>
              </a:defRPr>
            </a:lvl9pPr>
          </a:lstStyle>
          <a:p xmlns:a="http://schemas.openxmlformats.org/drawingml/2006/main">
            <a:pPr>
              <a:defRPr sz="1650" b="0">
                <a:solidFill>
                  <a:srgbClr val="A5DED4"/>
                </a:solidFill>
              </a:defRPr>
            </a:pPr>
            <a:r>
              <a:rPr sz="1650" b="0">
                <a:solidFill>
                  <a:srgbClr val="A5DED4"/>
                </a:solidFill>
              </a:rPr>
              <a:t>01</a:t>
            </a:r>
          </a:p>
        </p:txBody>
      </p:sp>
      <p:sp>
        <p:nvSpPr>
          <p:cNvPr id="2" name="">
            <a:extLst xmlns:a="http://schemas.openxmlformats.org/drawingml/2006/main">
              <a:ext uri="{FF2B5EF4-FFF2-40B4-BE49-F238E27FC236}">
                <a16:creationId xmlns:a16="http://schemas.microsoft.com/office/drawing/2014/main" id="{D4B40C72-62CE-49FA-97B2-E33769112F1E}"/>
              </a:ext>
            </a:extLst>
          </p:cNvPr>
          <p:cNvSpPr>
            <a:spLocks xmlns:a="http://schemas.openxmlformats.org/drawingml/2006/main" noGrp="1"/>
          </p:cNvSpPr>
          <p:nvPr/>
        </p:nvSpPr>
        <p:spPr>
          <a:xfrm xmlns:a="http://schemas.openxmlformats.org/drawingml/2006/main">
            <a:off x="723900" y="161925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F6F3ED"/>
                </a:solidFill>
              </a:defRPr>
            </a:defPPr>
            <a:lvl1pPr>
              <a:defRPr sz="6150" b="1">
                <a:solidFill>
                  <a:srgbClr val="F6F3ED"/>
                </a:solidFill>
              </a:defRPr>
            </a:lvl1pPr>
            <a:lvl2pPr>
              <a:defRPr sz="6150" b="1">
                <a:solidFill>
                  <a:srgbClr val="F6F3ED"/>
                </a:solidFill>
              </a:defRPr>
            </a:lvl2pPr>
            <a:lvl3pPr>
              <a:defRPr sz="6150" b="1">
                <a:solidFill>
                  <a:srgbClr val="F6F3ED"/>
                </a:solidFill>
              </a:defRPr>
            </a:lvl3pPr>
            <a:lvl4pPr>
              <a:defRPr sz="6150" b="1">
                <a:solidFill>
                  <a:srgbClr val="F6F3ED"/>
                </a:solidFill>
              </a:defRPr>
            </a:lvl4pPr>
            <a:lvl5pPr>
              <a:defRPr sz="6150" b="1">
                <a:solidFill>
                  <a:srgbClr val="F6F3ED"/>
                </a:solidFill>
              </a:defRPr>
            </a:lvl5pPr>
            <a:lvl6pPr>
              <a:defRPr sz="6150" b="1">
                <a:solidFill>
                  <a:srgbClr val="F6F3ED"/>
                </a:solidFill>
              </a:defRPr>
            </a:lvl6pPr>
            <a:lvl7pPr>
              <a:defRPr sz="6150" b="1">
                <a:solidFill>
                  <a:srgbClr val="F6F3ED"/>
                </a:solidFill>
              </a:defRPr>
            </a:lvl7pPr>
            <a:lvl8pPr>
              <a:defRPr sz="6150" b="1">
                <a:solidFill>
                  <a:srgbClr val="F6F3ED"/>
                </a:solidFill>
              </a:defRPr>
            </a:lvl8pPr>
            <a:lvl9pPr>
              <a:defRPr sz="6150" b="1">
                <a:solidFill>
                  <a:srgbClr val="F6F3ED"/>
                </a:solidFill>
              </a:defRPr>
            </a:lvl9pPr>
          </a:lstStyle>
          <a:p xmlns:a="http://schemas.openxmlformats.org/drawingml/2006/main">
            <a:pPr>
              <a:defRPr sz="6150" b="1">
                <a:solidFill>
                  <a:srgbClr val="F6F3ED"/>
                </a:solidFill>
              </a:defRPr>
            </a:pPr>
            <a:r>
              <a:rPr sz="6150" b="1">
                <a:solidFill>
                  <a:srgbClr val="F6F3ED"/>
                </a:solidFill>
              </a:rPr>
              <a:t>Flowdesk</a:t>
            </a:r>
          </a:p>
        </p:txBody>
      </p:sp>
      <p:sp>
        <p:nvSpPr>
          <p:cNvPr id="3" name="">
            <a:extLst xmlns:a="http://schemas.openxmlformats.org/drawingml/2006/main">
              <a:ext uri="{FF2B5EF4-FFF2-40B4-BE49-F238E27FC236}">
                <a16:creationId xmlns:a16="http://schemas.microsoft.com/office/drawing/2014/main" id="{7A80C95E-1D0B-4978-95FC-0565614672D2}"/>
              </a:ext>
            </a:extLst>
          </p:cNvPr>
          <p:cNvSpPr>
            <a:spLocks xmlns:a="http://schemas.openxmlformats.org/drawingml/2006/main" noGrp="1"/>
          </p:cNvSpPr>
          <p:nvPr/>
        </p:nvSpPr>
        <p:spPr>
          <a:xfrm xmlns:a="http://schemas.openxmlformats.org/drawingml/2006/main">
            <a:off x="762000" y="28575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A5DED4"/>
                </a:solidFill>
              </a:defRPr>
            </a:defPPr>
            <a:lvl1pPr>
              <a:defRPr sz="2550" b="0">
                <a:solidFill>
                  <a:srgbClr val="A5DED4"/>
                </a:solidFill>
              </a:defRPr>
            </a:lvl1pPr>
            <a:lvl2pPr>
              <a:defRPr sz="2550" b="0">
                <a:solidFill>
                  <a:srgbClr val="A5DED4"/>
                </a:solidFill>
              </a:defRPr>
            </a:lvl2pPr>
            <a:lvl3pPr>
              <a:defRPr sz="2550" b="0">
                <a:solidFill>
                  <a:srgbClr val="A5DED4"/>
                </a:solidFill>
              </a:defRPr>
            </a:lvl3pPr>
            <a:lvl4pPr>
              <a:defRPr sz="2550" b="0">
                <a:solidFill>
                  <a:srgbClr val="A5DED4"/>
                </a:solidFill>
              </a:defRPr>
            </a:lvl4pPr>
            <a:lvl5pPr>
              <a:defRPr sz="2550" b="0">
                <a:solidFill>
                  <a:srgbClr val="A5DED4"/>
                </a:solidFill>
              </a:defRPr>
            </a:lvl5pPr>
            <a:lvl6pPr>
              <a:defRPr sz="2550" b="0">
                <a:solidFill>
                  <a:srgbClr val="A5DED4"/>
                </a:solidFill>
              </a:defRPr>
            </a:lvl6pPr>
            <a:lvl7pPr>
              <a:defRPr sz="2550" b="0">
                <a:solidFill>
                  <a:srgbClr val="A5DED4"/>
                </a:solidFill>
              </a:defRPr>
            </a:lvl7pPr>
            <a:lvl8pPr>
              <a:defRPr sz="2550" b="0">
                <a:solidFill>
                  <a:srgbClr val="A5DED4"/>
                </a:solidFill>
              </a:defRPr>
            </a:lvl8pPr>
            <a:lvl9pPr>
              <a:defRPr sz="2550" b="0">
                <a:solidFill>
                  <a:srgbClr val="A5DED4"/>
                </a:solidFill>
              </a:defRPr>
            </a:lvl9pPr>
          </a:lstStyle>
          <a:p xmlns:a="http://schemas.openxmlformats.org/drawingml/2006/main">
            <a:pPr>
              <a:defRPr sz="2550" b="0">
                <a:solidFill>
                  <a:srgbClr val="A5DED4"/>
                </a:solidFill>
              </a:defRPr>
            </a:pPr>
            <a:r>
              <a:rPr sz="2550" b="0">
                <a:solidFill>
                  <a:srgbClr val="A5DED4"/>
                </a:solidFill>
              </a:rPr>
              <a:t>Print Shop Management System</a:t>
            </a:r>
          </a:p>
        </p:txBody>
      </p:sp>
      <p:sp>
        <p:nvSpPr>
          <p:cNvPr id="4" name="">
            <a:extLst xmlns:a="http://schemas.openxmlformats.org/drawingml/2006/main">
              <a:ext uri="{FF2B5EF4-FFF2-40B4-BE49-F238E27FC236}">
                <a16:creationId xmlns:a16="http://schemas.microsoft.com/office/drawing/2014/main" id="{83DEC016-3A3B-463B-B161-BE80566F92FE}"/>
              </a:ext>
            </a:extLst>
          </p:cNvPr>
          <p:cNvSpPr>
            <a:spLocks xmlns:a="http://schemas.openxmlformats.org/drawingml/2006/main" noGrp="1"/>
          </p:cNvSpPr>
          <p:nvPr/>
        </p:nvSpPr>
        <p:spPr>
          <a:xfrm xmlns:a="http://schemas.openxmlformats.org/drawingml/2006/main">
            <a:off x="762000" y="41433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6F3ED"/>
                </a:solidFill>
              </a:defRPr>
            </a:defPPr>
            <a:lvl1pPr>
              <a:defRPr sz="2025" b="0">
                <a:solidFill>
                  <a:srgbClr val="F6F3ED"/>
                </a:solidFill>
              </a:defRPr>
            </a:lvl1pPr>
            <a:lvl2pPr>
              <a:defRPr sz="2025" b="0">
                <a:solidFill>
                  <a:srgbClr val="F6F3ED"/>
                </a:solidFill>
              </a:defRPr>
            </a:lvl2pPr>
            <a:lvl3pPr>
              <a:defRPr sz="2025" b="0">
                <a:solidFill>
                  <a:srgbClr val="F6F3ED"/>
                </a:solidFill>
              </a:defRPr>
            </a:lvl3pPr>
            <a:lvl4pPr>
              <a:defRPr sz="2025" b="0">
                <a:solidFill>
                  <a:srgbClr val="F6F3ED"/>
                </a:solidFill>
              </a:defRPr>
            </a:lvl4pPr>
            <a:lvl5pPr>
              <a:defRPr sz="2025" b="0">
                <a:solidFill>
                  <a:srgbClr val="F6F3ED"/>
                </a:solidFill>
              </a:defRPr>
            </a:lvl5pPr>
            <a:lvl6pPr>
              <a:defRPr sz="2025" b="0">
                <a:solidFill>
                  <a:srgbClr val="F6F3ED"/>
                </a:solidFill>
              </a:defRPr>
            </a:lvl6pPr>
            <a:lvl7pPr>
              <a:defRPr sz="2025" b="0">
                <a:solidFill>
                  <a:srgbClr val="F6F3ED"/>
                </a:solidFill>
              </a:defRPr>
            </a:lvl7pPr>
            <a:lvl8pPr>
              <a:defRPr sz="2025" b="0">
                <a:solidFill>
                  <a:srgbClr val="F6F3ED"/>
                </a:solidFill>
              </a:defRPr>
            </a:lvl8pPr>
            <a:lvl9pPr>
              <a:defRPr sz="2025" b="0">
                <a:solidFill>
                  <a:srgbClr val="F6F3ED"/>
                </a:solidFill>
              </a:defRPr>
            </a:lvl9pPr>
          </a:lstStyle>
          <a:p xmlns:a="http://schemas.openxmlformats.org/drawingml/2006/main">
            <a:pPr>
              <a:defRPr sz="2025" b="0">
                <a:solidFill>
                  <a:srgbClr val="F6F3ED"/>
                </a:solidFill>
              </a:defRPr>
            </a:pPr>
            <a:r>
              <a:rPr sz="2025" b="0">
                <a:solidFill>
                  <a:srgbClr val="F6F3ED"/>
                </a:solidFill>
              </a:rPr>
              <a:t>Java console application</a:t>
            </a:r>
          </a:p>
        </p:txBody>
      </p:sp>
      <p:sp>
        <p:nvSpPr>
          <p:cNvPr id="5" name="">
            <a:extLst xmlns:a="http://schemas.openxmlformats.org/drawingml/2006/main">
              <a:ext uri="{FF2B5EF4-FFF2-40B4-BE49-F238E27FC236}">
                <a16:creationId xmlns:a16="http://schemas.microsoft.com/office/drawing/2014/main" id="{19785BD8-86B6-45DE-B9A0-B84301136E6B}"/>
              </a:ext>
            </a:extLst>
          </p:cNvPr>
          <p:cNvSpPr>
            <a:spLocks xmlns:a="http://schemas.openxmlformats.org/drawingml/2006/main" noGrp="1"/>
          </p:cNvSpPr>
          <p:nvPr/>
        </p:nvSpPr>
        <p:spPr>
          <a:xfrm xmlns:a="http://schemas.openxmlformats.org/drawingml/2006/main">
            <a:off x="762000" y="46958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6F3ED"/>
                </a:solidFill>
              </a:defRPr>
            </a:defPPr>
            <a:lvl1pPr>
              <a:defRPr sz="2025" b="0">
                <a:solidFill>
                  <a:srgbClr val="F6F3ED"/>
                </a:solidFill>
              </a:defRPr>
            </a:lvl1pPr>
            <a:lvl2pPr>
              <a:defRPr sz="2025" b="0">
                <a:solidFill>
                  <a:srgbClr val="F6F3ED"/>
                </a:solidFill>
              </a:defRPr>
            </a:lvl2pPr>
            <a:lvl3pPr>
              <a:defRPr sz="2025" b="0">
                <a:solidFill>
                  <a:srgbClr val="F6F3ED"/>
                </a:solidFill>
              </a:defRPr>
            </a:lvl3pPr>
            <a:lvl4pPr>
              <a:defRPr sz="2025" b="0">
                <a:solidFill>
                  <a:srgbClr val="F6F3ED"/>
                </a:solidFill>
              </a:defRPr>
            </a:lvl4pPr>
            <a:lvl5pPr>
              <a:defRPr sz="2025" b="0">
                <a:solidFill>
                  <a:srgbClr val="F6F3ED"/>
                </a:solidFill>
              </a:defRPr>
            </a:lvl5pPr>
            <a:lvl6pPr>
              <a:defRPr sz="2025" b="0">
                <a:solidFill>
                  <a:srgbClr val="F6F3ED"/>
                </a:solidFill>
              </a:defRPr>
            </a:lvl6pPr>
            <a:lvl7pPr>
              <a:defRPr sz="2025" b="0">
                <a:solidFill>
                  <a:srgbClr val="F6F3ED"/>
                </a:solidFill>
              </a:defRPr>
            </a:lvl7pPr>
            <a:lvl8pPr>
              <a:defRPr sz="2025" b="0">
                <a:solidFill>
                  <a:srgbClr val="F6F3ED"/>
                </a:solidFill>
              </a:defRPr>
            </a:lvl8pPr>
            <a:lvl9pPr>
              <a:defRPr sz="2025" b="0">
                <a:solidFill>
                  <a:srgbClr val="F6F3ED"/>
                </a:solidFill>
              </a:defRPr>
            </a:lvl9pPr>
          </a:lstStyle>
          <a:p xmlns:a="http://schemas.openxmlformats.org/drawingml/2006/main">
            <a:pPr>
              <a:defRPr sz="2025" b="0">
                <a:solidFill>
                  <a:srgbClr val="F6F3ED"/>
                </a:solidFill>
              </a:defRPr>
            </a:pPr>
            <a:r>
              <a:rPr sz="2025" b="0">
                <a:solidFill>
                  <a:srgbClr val="F6F3ED"/>
                </a:solidFill>
              </a:rPr>
              <a:t>Object-Oriented Programming Project</a:t>
            </a:r>
          </a:p>
        </p:txBody>
      </p:sp>
    </p:spTree>
    <p:extLst>
      <p:ext uri="{BB962C8B-B14F-4D97-AF65-F5344CB8AC3E}">
        <p14:creationId xmlns:p14="http://schemas.microsoft.com/office/powerpoint/2010/main" val="1869630129"/>
      </p:ext>
    </p:extLst>
  </p:cSld>
</p:sld>
</file>

<file path=ppt/slides/slide2.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8A038A-3D92-41D0-B2FD-69066F8DFACB}"/>
              </a:ext>
            </a:extLst>
          </p:cNvPr>
          <p:cNvSpPr>
            <a:spLocks xmlns:a="http://schemas.openxmlformats.org/drawingml/2006/main" noGrp="1"/>
          </p:cNvSpPr>
          <p:nvPr/>
        </p:nvSpPr>
        <p:spPr>
          <a:xfrm xmlns:a="http://schemas.openxmlformats.org/drawingml/2006/main">
            <a:off x="723900" y="523875"/>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4756F"/>
                </a:solidFill>
              </a:defRPr>
            </a:defPPr>
            <a:lvl1pPr>
              <a:defRPr sz="1650" b="0">
                <a:solidFill>
                  <a:srgbClr val="44756F"/>
                </a:solidFill>
              </a:defRPr>
            </a:lvl1pPr>
            <a:lvl2pPr>
              <a:defRPr sz="1650" b="0">
                <a:solidFill>
                  <a:srgbClr val="44756F"/>
                </a:solidFill>
              </a:defRPr>
            </a:lvl2pPr>
            <a:lvl3pPr>
              <a:defRPr sz="1650" b="0">
                <a:solidFill>
                  <a:srgbClr val="44756F"/>
                </a:solidFill>
              </a:defRPr>
            </a:lvl3pPr>
            <a:lvl4pPr>
              <a:defRPr sz="1650" b="0">
                <a:solidFill>
                  <a:srgbClr val="44756F"/>
                </a:solidFill>
              </a:defRPr>
            </a:lvl4pPr>
            <a:lvl5pPr>
              <a:defRPr sz="1650" b="0">
                <a:solidFill>
                  <a:srgbClr val="44756F"/>
                </a:solidFill>
              </a:defRPr>
            </a:lvl5pPr>
            <a:lvl6pPr>
              <a:defRPr sz="1650" b="0">
                <a:solidFill>
                  <a:srgbClr val="44756F"/>
                </a:solidFill>
              </a:defRPr>
            </a:lvl6pPr>
            <a:lvl7pPr>
              <a:defRPr sz="1650" b="0">
                <a:solidFill>
                  <a:srgbClr val="44756F"/>
                </a:solidFill>
              </a:defRPr>
            </a:lvl7pPr>
            <a:lvl8pPr>
              <a:defRPr sz="1650" b="0">
                <a:solidFill>
                  <a:srgbClr val="44756F"/>
                </a:solidFill>
              </a:defRPr>
            </a:lvl8pPr>
            <a:lvl9pPr>
              <a:defRPr sz="1650" b="0">
                <a:solidFill>
                  <a:srgbClr val="44756F"/>
                </a:solidFill>
              </a:defRPr>
            </a:lvl9pPr>
          </a:lstStyle>
          <a:p xmlns:a="http://schemas.openxmlformats.org/drawingml/2006/main">
            <a:pPr>
              <a:defRPr sz="1650" b="0">
                <a:solidFill>
                  <a:srgbClr val="44756F"/>
                </a:solidFill>
              </a:defRPr>
            </a:pPr>
            <a:r>
              <a:rPr sz="1650" b="0">
                <a:solidFill>
                  <a:srgbClr val="44756F"/>
                </a:solidFill>
              </a:rPr>
              <a:t>02</a:t>
            </a:r>
          </a:p>
        </p:txBody>
      </p:sp>
      <p:sp>
        <p:nvSpPr>
          <p:cNvPr id="2" name="">
            <a:extLst xmlns:a="http://schemas.openxmlformats.org/drawingml/2006/main">
              <a:ext uri="{FF2B5EF4-FFF2-40B4-BE49-F238E27FC236}">
                <a16:creationId xmlns:a16="http://schemas.microsoft.com/office/drawing/2014/main" id="{B2FCD0BD-721D-46F9-8271-6646CF0CE3EB}"/>
              </a:ext>
            </a:extLst>
          </p:cNvPr>
          <p:cNvSpPr>
            <a:spLocks xmlns:a="http://schemas.openxmlformats.org/drawingml/2006/main" noGrp="1"/>
          </p:cNvSpPr>
          <p:nvPr/>
        </p:nvSpPr>
        <p:spPr>
          <a:xfrm xmlns:a="http://schemas.openxmlformats.org/drawingml/2006/main">
            <a:off x="723900" y="10668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2C3B"/>
                </a:solidFill>
              </a:defRPr>
            </a:defPPr>
            <a:lvl1pPr>
              <a:defRPr sz="3900" b="1">
                <a:solidFill>
                  <a:srgbClr val="132C3B"/>
                </a:solidFill>
              </a:defRPr>
            </a:lvl1pPr>
            <a:lvl2pPr>
              <a:defRPr sz="3900" b="1">
                <a:solidFill>
                  <a:srgbClr val="132C3B"/>
                </a:solidFill>
              </a:defRPr>
            </a:lvl2pPr>
            <a:lvl3pPr>
              <a:defRPr sz="3900" b="1">
                <a:solidFill>
                  <a:srgbClr val="132C3B"/>
                </a:solidFill>
              </a:defRPr>
            </a:lvl3pPr>
            <a:lvl4pPr>
              <a:defRPr sz="3900" b="1">
                <a:solidFill>
                  <a:srgbClr val="132C3B"/>
                </a:solidFill>
              </a:defRPr>
            </a:lvl4pPr>
            <a:lvl5pPr>
              <a:defRPr sz="3900" b="1">
                <a:solidFill>
                  <a:srgbClr val="132C3B"/>
                </a:solidFill>
              </a:defRPr>
            </a:lvl5pPr>
            <a:lvl6pPr>
              <a:defRPr sz="3900" b="1">
                <a:solidFill>
                  <a:srgbClr val="132C3B"/>
                </a:solidFill>
              </a:defRPr>
            </a:lvl6pPr>
            <a:lvl7pPr>
              <a:defRPr sz="3900" b="1">
                <a:solidFill>
                  <a:srgbClr val="132C3B"/>
                </a:solidFill>
              </a:defRPr>
            </a:lvl7pPr>
            <a:lvl8pPr>
              <a:defRPr sz="3900" b="1">
                <a:solidFill>
                  <a:srgbClr val="132C3B"/>
                </a:solidFill>
              </a:defRPr>
            </a:lvl8pPr>
            <a:lvl9pPr>
              <a:defRPr sz="3900" b="1">
                <a:solidFill>
                  <a:srgbClr val="132C3B"/>
                </a:solidFill>
              </a:defRPr>
            </a:lvl9pPr>
          </a:lstStyle>
          <a:p xmlns:a="http://schemas.openxmlformats.org/drawingml/2006/main">
            <a:pPr>
              <a:defRPr sz="3900" b="1">
                <a:solidFill>
                  <a:srgbClr val="132C3B"/>
                </a:solidFill>
              </a:defRPr>
            </a:pPr>
            <a:r>
              <a:rPr sz="3900" b="1">
                <a:solidFill>
                  <a:srgbClr val="132C3B"/>
                </a:solidFill>
              </a:rPr>
              <a:t>The project goal</a:t>
            </a:r>
          </a:p>
        </p:txBody>
      </p:sp>
      <p:sp>
        <p:nvSpPr>
          <p:cNvPr id="3" name="">
            <a:extLst xmlns:a="http://schemas.openxmlformats.org/drawingml/2006/main">
              <a:ext uri="{FF2B5EF4-FFF2-40B4-BE49-F238E27FC236}">
                <a16:creationId xmlns:a16="http://schemas.microsoft.com/office/drawing/2014/main" id="{347F268D-67B3-47A3-900F-2708FA6EA9E7}"/>
              </a:ext>
            </a:extLst>
          </p:cNvPr>
          <p:cNvSpPr>
            <a:spLocks xmlns:a="http://schemas.openxmlformats.org/drawingml/2006/main" noGrp="1"/>
          </p:cNvSpPr>
          <p:nvPr/>
        </p:nvSpPr>
        <p:spPr>
          <a:xfrm xmlns:a="http://schemas.openxmlformats.org/drawingml/2006/main">
            <a:off x="762000" y="21431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4756F"/>
                </a:solidFill>
              </a:defRPr>
            </a:defPPr>
            <a:lvl1pPr>
              <a:defRPr sz="2175" b="0">
                <a:solidFill>
                  <a:srgbClr val="44756F"/>
                </a:solidFill>
              </a:defRPr>
            </a:lvl1pPr>
            <a:lvl2pPr>
              <a:defRPr sz="2175" b="0">
                <a:solidFill>
                  <a:srgbClr val="44756F"/>
                </a:solidFill>
              </a:defRPr>
            </a:lvl2pPr>
            <a:lvl3pPr>
              <a:defRPr sz="2175" b="0">
                <a:solidFill>
                  <a:srgbClr val="44756F"/>
                </a:solidFill>
              </a:defRPr>
            </a:lvl3pPr>
            <a:lvl4pPr>
              <a:defRPr sz="2175" b="0">
                <a:solidFill>
                  <a:srgbClr val="44756F"/>
                </a:solidFill>
              </a:defRPr>
            </a:lvl4pPr>
            <a:lvl5pPr>
              <a:defRPr sz="2175" b="0">
                <a:solidFill>
                  <a:srgbClr val="44756F"/>
                </a:solidFill>
              </a:defRPr>
            </a:lvl5pPr>
            <a:lvl6pPr>
              <a:defRPr sz="2175" b="0">
                <a:solidFill>
                  <a:srgbClr val="44756F"/>
                </a:solidFill>
              </a:defRPr>
            </a:lvl6pPr>
            <a:lvl7pPr>
              <a:defRPr sz="2175" b="0">
                <a:solidFill>
                  <a:srgbClr val="44756F"/>
                </a:solidFill>
              </a:defRPr>
            </a:lvl7pPr>
            <a:lvl8pPr>
              <a:defRPr sz="2175" b="0">
                <a:solidFill>
                  <a:srgbClr val="44756F"/>
                </a:solidFill>
              </a:defRPr>
            </a:lvl8pPr>
            <a:lvl9pPr>
              <a:defRPr sz="2175" b="0">
                <a:solidFill>
                  <a:srgbClr val="44756F"/>
                </a:solidFill>
              </a:defRPr>
            </a:lvl9pPr>
          </a:lstStyle>
          <a:p xmlns:a="http://schemas.openxmlformats.org/drawingml/2006/main">
            <a:pPr>
              <a:defRPr sz="2175" b="0">
                <a:solidFill>
                  <a:srgbClr val="44756F"/>
                </a:solidFill>
              </a:defRPr>
            </a:pPr>
            <a:r>
              <a:rPr sz="2175" b="0">
                <a:solidFill>
                  <a:srgbClr val="44756F"/>
                </a:solidFill>
              </a:rPr>
              <a:t>A simple system for a print shop</a:t>
            </a:r>
          </a:p>
        </p:txBody>
      </p:sp>
      <p:sp>
        <p:nvSpPr>
          <p:cNvPr id="4" name="">
            <a:extLst xmlns:a="http://schemas.openxmlformats.org/drawingml/2006/main">
              <a:ext uri="{FF2B5EF4-FFF2-40B4-BE49-F238E27FC236}">
                <a16:creationId xmlns:a16="http://schemas.microsoft.com/office/drawing/2014/main" id="{99E3B1C2-70A3-4133-A668-88A27CAE5DCD}"/>
              </a:ext>
            </a:extLst>
          </p:cNvPr>
          <p:cNvSpPr>
            <a:spLocks xmlns:a="http://schemas.openxmlformats.org/drawingml/2006/main" noGrp="1"/>
          </p:cNvSpPr>
          <p:nvPr/>
        </p:nvSpPr>
        <p:spPr>
          <a:xfrm xmlns:a="http://schemas.openxmlformats.org/drawingml/2006/main">
            <a:off x="762000" y="3143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Keep customer information</a:t>
            </a:r>
          </a:p>
        </p:txBody>
      </p:sp>
      <p:sp>
        <p:nvSpPr>
          <p:cNvPr id="5" name="">
            <a:extLst xmlns:a="http://schemas.openxmlformats.org/drawingml/2006/main">
              <a:ext uri="{FF2B5EF4-FFF2-40B4-BE49-F238E27FC236}">
                <a16:creationId xmlns:a16="http://schemas.microsoft.com/office/drawing/2014/main" id="{1E14D537-4D5F-4C99-8EBF-DDB5F82D6F05}"/>
              </a:ext>
            </a:extLst>
          </p:cNvPr>
          <p:cNvSpPr>
            <a:spLocks xmlns:a="http://schemas.openxmlformats.org/drawingml/2006/main" noGrp="1"/>
          </p:cNvSpPr>
          <p:nvPr/>
        </p:nvSpPr>
        <p:spPr>
          <a:xfrm xmlns:a="http://schemas.openxmlformats.org/drawingml/2006/main">
            <a:off x="762000" y="3695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Create and track work orders</a:t>
            </a:r>
          </a:p>
        </p:txBody>
      </p:sp>
      <p:sp>
        <p:nvSpPr>
          <p:cNvPr id="6" name="">
            <a:extLst xmlns:a="http://schemas.openxmlformats.org/drawingml/2006/main">
              <a:ext uri="{FF2B5EF4-FFF2-40B4-BE49-F238E27FC236}">
                <a16:creationId xmlns:a16="http://schemas.microsoft.com/office/drawing/2014/main" id="{A93EEA75-54CA-42DB-9EE6-EF1D219FCDCD}"/>
              </a:ext>
            </a:extLst>
          </p:cNvPr>
          <p:cNvSpPr>
            <a:spLocks xmlns:a="http://schemas.openxmlformats.org/drawingml/2006/main" noGrp="1"/>
          </p:cNvSpPr>
          <p:nvPr/>
        </p:nvSpPr>
        <p:spPr>
          <a:xfrm xmlns:a="http://schemas.openxmlformats.org/drawingml/2006/main">
            <a:off x="762000" y="42481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Record payments and cash movements</a:t>
            </a:r>
          </a:p>
        </p:txBody>
      </p:sp>
      <p:sp>
        <p:nvSpPr>
          <p:cNvPr id="7" name="">
            <a:extLst xmlns:a="http://schemas.openxmlformats.org/drawingml/2006/main">
              <a:ext uri="{FF2B5EF4-FFF2-40B4-BE49-F238E27FC236}">
                <a16:creationId xmlns:a16="http://schemas.microsoft.com/office/drawing/2014/main" id="{19D76FF3-9A67-4168-BDBD-615779214571}"/>
              </a:ext>
            </a:extLst>
          </p:cNvPr>
          <p:cNvSpPr>
            <a:spLocks xmlns:a="http://schemas.openxmlformats.org/drawingml/2006/main" noGrp="1"/>
          </p:cNvSpPr>
          <p:nvPr/>
        </p:nvSpPr>
        <p:spPr>
          <a:xfrm xmlns:a="http://schemas.openxmlformats.org/drawingml/2006/main">
            <a:off x="762000" y="48006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Export reports to CSV</a:t>
            </a:r>
          </a:p>
        </p:txBody>
      </p:sp>
    </p:spTree>
    <p:extLst>
      <p:ext uri="{BB962C8B-B14F-4D97-AF65-F5344CB8AC3E}">
        <p14:creationId xmlns:p14="http://schemas.microsoft.com/office/powerpoint/2010/main" val="1532334322"/>
      </p:ext>
    </p:extLst>
  </p:cSld>
</p:sld>
</file>

<file path=ppt/slides/slide3.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D3090A-B586-47EF-A20C-CF98A070B9F1}"/>
              </a:ext>
            </a:extLst>
          </p:cNvPr>
          <p:cNvSpPr>
            <a:spLocks xmlns:a="http://schemas.openxmlformats.org/drawingml/2006/main" noGrp="1"/>
          </p:cNvSpPr>
          <p:nvPr/>
        </p:nvSpPr>
        <p:spPr>
          <a:xfrm xmlns:a="http://schemas.openxmlformats.org/drawingml/2006/main">
            <a:off x="723900" y="523875"/>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4756F"/>
                </a:solidFill>
              </a:defRPr>
            </a:defPPr>
            <a:lvl1pPr>
              <a:defRPr sz="1650" b="0">
                <a:solidFill>
                  <a:srgbClr val="44756F"/>
                </a:solidFill>
              </a:defRPr>
            </a:lvl1pPr>
            <a:lvl2pPr>
              <a:defRPr sz="1650" b="0">
                <a:solidFill>
                  <a:srgbClr val="44756F"/>
                </a:solidFill>
              </a:defRPr>
            </a:lvl2pPr>
            <a:lvl3pPr>
              <a:defRPr sz="1650" b="0">
                <a:solidFill>
                  <a:srgbClr val="44756F"/>
                </a:solidFill>
              </a:defRPr>
            </a:lvl3pPr>
            <a:lvl4pPr>
              <a:defRPr sz="1650" b="0">
                <a:solidFill>
                  <a:srgbClr val="44756F"/>
                </a:solidFill>
              </a:defRPr>
            </a:lvl4pPr>
            <a:lvl5pPr>
              <a:defRPr sz="1650" b="0">
                <a:solidFill>
                  <a:srgbClr val="44756F"/>
                </a:solidFill>
              </a:defRPr>
            </a:lvl5pPr>
            <a:lvl6pPr>
              <a:defRPr sz="1650" b="0">
                <a:solidFill>
                  <a:srgbClr val="44756F"/>
                </a:solidFill>
              </a:defRPr>
            </a:lvl6pPr>
            <a:lvl7pPr>
              <a:defRPr sz="1650" b="0">
                <a:solidFill>
                  <a:srgbClr val="44756F"/>
                </a:solidFill>
              </a:defRPr>
            </a:lvl7pPr>
            <a:lvl8pPr>
              <a:defRPr sz="1650" b="0">
                <a:solidFill>
                  <a:srgbClr val="44756F"/>
                </a:solidFill>
              </a:defRPr>
            </a:lvl8pPr>
            <a:lvl9pPr>
              <a:defRPr sz="1650" b="0">
                <a:solidFill>
                  <a:srgbClr val="44756F"/>
                </a:solidFill>
              </a:defRPr>
            </a:lvl9pPr>
          </a:lstStyle>
          <a:p xmlns:a="http://schemas.openxmlformats.org/drawingml/2006/main">
            <a:pPr>
              <a:defRPr sz="1650" b="0">
                <a:solidFill>
                  <a:srgbClr val="44756F"/>
                </a:solidFill>
              </a:defRPr>
            </a:pPr>
            <a:r>
              <a:rPr sz="1650" b="0">
                <a:solidFill>
                  <a:srgbClr val="44756F"/>
                </a:solidFill>
              </a:rPr>
              <a:t>03</a:t>
            </a:r>
          </a:p>
        </p:txBody>
      </p:sp>
      <p:sp>
        <p:nvSpPr>
          <p:cNvPr id="2" name="">
            <a:extLst xmlns:a="http://schemas.openxmlformats.org/drawingml/2006/main">
              <a:ext uri="{FF2B5EF4-FFF2-40B4-BE49-F238E27FC236}">
                <a16:creationId xmlns:a16="http://schemas.microsoft.com/office/drawing/2014/main" id="{D1DA2CC1-2223-423B-A933-9AA2B5A7E890}"/>
              </a:ext>
            </a:extLst>
          </p:cNvPr>
          <p:cNvSpPr>
            <a:spLocks xmlns:a="http://schemas.openxmlformats.org/drawingml/2006/main" noGrp="1"/>
          </p:cNvSpPr>
          <p:nvPr/>
        </p:nvSpPr>
        <p:spPr>
          <a:xfrm xmlns:a="http://schemas.openxmlformats.org/drawingml/2006/main">
            <a:off x="723900" y="10668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2C3B"/>
                </a:solidFill>
              </a:defRPr>
            </a:defPPr>
            <a:lvl1pPr>
              <a:defRPr sz="3900" b="1">
                <a:solidFill>
                  <a:srgbClr val="132C3B"/>
                </a:solidFill>
              </a:defRPr>
            </a:lvl1pPr>
            <a:lvl2pPr>
              <a:defRPr sz="3900" b="1">
                <a:solidFill>
                  <a:srgbClr val="132C3B"/>
                </a:solidFill>
              </a:defRPr>
            </a:lvl2pPr>
            <a:lvl3pPr>
              <a:defRPr sz="3900" b="1">
                <a:solidFill>
                  <a:srgbClr val="132C3B"/>
                </a:solidFill>
              </a:defRPr>
            </a:lvl3pPr>
            <a:lvl4pPr>
              <a:defRPr sz="3900" b="1">
                <a:solidFill>
                  <a:srgbClr val="132C3B"/>
                </a:solidFill>
              </a:defRPr>
            </a:lvl4pPr>
            <a:lvl5pPr>
              <a:defRPr sz="3900" b="1">
                <a:solidFill>
                  <a:srgbClr val="132C3B"/>
                </a:solidFill>
              </a:defRPr>
            </a:lvl5pPr>
            <a:lvl6pPr>
              <a:defRPr sz="3900" b="1">
                <a:solidFill>
                  <a:srgbClr val="132C3B"/>
                </a:solidFill>
              </a:defRPr>
            </a:lvl6pPr>
            <a:lvl7pPr>
              <a:defRPr sz="3900" b="1">
                <a:solidFill>
                  <a:srgbClr val="132C3B"/>
                </a:solidFill>
              </a:defRPr>
            </a:lvl7pPr>
            <a:lvl8pPr>
              <a:defRPr sz="3900" b="1">
                <a:solidFill>
                  <a:srgbClr val="132C3B"/>
                </a:solidFill>
              </a:defRPr>
            </a:lvl8pPr>
            <a:lvl9pPr>
              <a:defRPr sz="3900" b="1">
                <a:solidFill>
                  <a:srgbClr val="132C3B"/>
                </a:solidFill>
              </a:defRPr>
            </a:lvl9pPr>
          </a:lstStyle>
          <a:p xmlns:a="http://schemas.openxmlformats.org/drawingml/2006/main">
            <a:pPr>
              <a:defRPr sz="3900" b="1">
                <a:solidFill>
                  <a:srgbClr val="132C3B"/>
                </a:solidFill>
              </a:defRPr>
            </a:pPr>
            <a:r>
              <a:rPr sz="3900" b="1">
                <a:solidFill>
                  <a:srgbClr val="132C3B"/>
                </a:solidFill>
              </a:rPr>
              <a:t>User roles</a:t>
            </a:r>
          </a:p>
        </p:txBody>
      </p:sp>
      <p:sp>
        <p:nvSpPr>
          <p:cNvPr id="3" name="">
            <a:extLst xmlns:a="http://schemas.openxmlformats.org/drawingml/2006/main">
              <a:ext uri="{FF2B5EF4-FFF2-40B4-BE49-F238E27FC236}">
                <a16:creationId xmlns:a16="http://schemas.microsoft.com/office/drawing/2014/main" id="{4FCD5B77-BF79-4E33-A31D-DC1C7C6FE75A}"/>
              </a:ext>
            </a:extLst>
          </p:cNvPr>
          <p:cNvSpPr>
            <a:spLocks xmlns:a="http://schemas.openxmlformats.org/drawingml/2006/main" noGrp="1"/>
          </p:cNvSpPr>
          <p:nvPr/>
        </p:nvSpPr>
        <p:spPr>
          <a:xfrm xmlns:a="http://schemas.openxmlformats.org/drawingml/2006/main">
            <a:off x="762000" y="21431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4756F"/>
                </a:solidFill>
              </a:defRPr>
            </a:defPPr>
            <a:lvl1pPr>
              <a:defRPr sz="2175" b="0">
                <a:solidFill>
                  <a:srgbClr val="44756F"/>
                </a:solidFill>
              </a:defRPr>
            </a:lvl1pPr>
            <a:lvl2pPr>
              <a:defRPr sz="2175" b="0">
                <a:solidFill>
                  <a:srgbClr val="44756F"/>
                </a:solidFill>
              </a:defRPr>
            </a:lvl2pPr>
            <a:lvl3pPr>
              <a:defRPr sz="2175" b="0">
                <a:solidFill>
                  <a:srgbClr val="44756F"/>
                </a:solidFill>
              </a:defRPr>
            </a:lvl3pPr>
            <a:lvl4pPr>
              <a:defRPr sz="2175" b="0">
                <a:solidFill>
                  <a:srgbClr val="44756F"/>
                </a:solidFill>
              </a:defRPr>
            </a:lvl4pPr>
            <a:lvl5pPr>
              <a:defRPr sz="2175" b="0">
                <a:solidFill>
                  <a:srgbClr val="44756F"/>
                </a:solidFill>
              </a:defRPr>
            </a:lvl5pPr>
            <a:lvl6pPr>
              <a:defRPr sz="2175" b="0">
                <a:solidFill>
                  <a:srgbClr val="44756F"/>
                </a:solidFill>
              </a:defRPr>
            </a:lvl6pPr>
            <a:lvl7pPr>
              <a:defRPr sz="2175" b="0">
                <a:solidFill>
                  <a:srgbClr val="44756F"/>
                </a:solidFill>
              </a:defRPr>
            </a:lvl7pPr>
            <a:lvl8pPr>
              <a:defRPr sz="2175" b="0">
                <a:solidFill>
                  <a:srgbClr val="44756F"/>
                </a:solidFill>
              </a:defRPr>
            </a:lvl8pPr>
            <a:lvl9pPr>
              <a:defRPr sz="2175" b="0">
                <a:solidFill>
                  <a:srgbClr val="44756F"/>
                </a:solidFill>
              </a:defRPr>
            </a:lvl9pPr>
          </a:lstStyle>
          <a:p xmlns:a="http://schemas.openxmlformats.org/drawingml/2006/main">
            <a:pPr>
              <a:defRPr sz="2175" b="0">
                <a:solidFill>
                  <a:srgbClr val="44756F"/>
                </a:solidFill>
              </a:defRPr>
            </a:pPr>
            <a:r>
              <a:rPr sz="2175" b="0">
                <a:solidFill>
                  <a:srgbClr val="44756F"/>
                </a:solidFill>
              </a:rPr>
              <a:t>Each role has a different menu</a:t>
            </a:r>
          </a:p>
        </p:txBody>
      </p:sp>
      <p:sp>
        <p:nvSpPr>
          <p:cNvPr id="4" name="">
            <a:extLst xmlns:a="http://schemas.openxmlformats.org/drawingml/2006/main">
              <a:ext uri="{FF2B5EF4-FFF2-40B4-BE49-F238E27FC236}">
                <a16:creationId xmlns:a16="http://schemas.microsoft.com/office/drawing/2014/main" id="{C492B25A-BEC1-4EA9-B6C0-271CEA005B25}"/>
              </a:ext>
            </a:extLst>
          </p:cNvPr>
          <p:cNvSpPr>
            <a:spLocks xmlns:a="http://schemas.openxmlformats.org/drawingml/2006/main" noGrp="1"/>
          </p:cNvSpPr>
          <p:nvPr/>
        </p:nvSpPr>
        <p:spPr>
          <a:xfrm xmlns:a="http://schemas.openxmlformats.org/drawingml/2006/main">
            <a:off x="762000" y="3143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Employee: customers, catalog, and orders</a:t>
            </a:r>
          </a:p>
        </p:txBody>
      </p:sp>
      <p:sp>
        <p:nvSpPr>
          <p:cNvPr id="5" name="">
            <a:extLst xmlns:a="http://schemas.openxmlformats.org/drawingml/2006/main">
              <a:ext uri="{FF2B5EF4-FFF2-40B4-BE49-F238E27FC236}">
                <a16:creationId xmlns:a16="http://schemas.microsoft.com/office/drawing/2014/main" id="{7292EF8C-401F-4201-8EF9-ACA97A9F3198}"/>
              </a:ext>
            </a:extLst>
          </p:cNvPr>
          <p:cNvSpPr>
            <a:spLocks xmlns:a="http://schemas.openxmlformats.org/drawingml/2006/main" noGrp="1"/>
          </p:cNvSpPr>
          <p:nvPr/>
        </p:nvSpPr>
        <p:spPr>
          <a:xfrm xmlns:a="http://schemas.openxmlformats.org/drawingml/2006/main">
            <a:off x="762000" y="3695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Cashier: payments and cash movements</a:t>
            </a:r>
          </a:p>
        </p:txBody>
      </p:sp>
      <p:sp>
        <p:nvSpPr>
          <p:cNvPr id="6" name="">
            <a:extLst xmlns:a="http://schemas.openxmlformats.org/drawingml/2006/main">
              <a:ext uri="{FF2B5EF4-FFF2-40B4-BE49-F238E27FC236}">
                <a16:creationId xmlns:a16="http://schemas.microsoft.com/office/drawing/2014/main" id="{AA43177B-F3C1-49FB-9689-B536059DA6F8}"/>
              </a:ext>
            </a:extLst>
          </p:cNvPr>
          <p:cNvSpPr>
            <a:spLocks xmlns:a="http://schemas.openxmlformats.org/drawingml/2006/main" noGrp="1"/>
          </p:cNvSpPr>
          <p:nvPr/>
        </p:nvSpPr>
        <p:spPr>
          <a:xfrm xmlns:a="http://schemas.openxmlformats.org/drawingml/2006/main">
            <a:off x="762000" y="42481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Manager: reports and cash balance</a:t>
            </a:r>
          </a:p>
        </p:txBody>
      </p:sp>
    </p:spTree>
    <p:extLst>
      <p:ext uri="{BB962C8B-B14F-4D97-AF65-F5344CB8AC3E}">
        <p14:creationId xmlns:p14="http://schemas.microsoft.com/office/powerpoint/2010/main" val="1808306367"/>
      </p:ext>
    </p:extLst>
  </p:cSld>
</p:sld>
</file>

<file path=ppt/slides/slide4.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E7E400D-0D3C-4061-A31C-8401D5DC948A}"/>
              </a:ext>
            </a:extLst>
          </p:cNvPr>
          <p:cNvSpPr>
            <a:spLocks xmlns:a="http://schemas.openxmlformats.org/drawingml/2006/main" noGrp="1"/>
          </p:cNvSpPr>
          <p:nvPr/>
        </p:nvSpPr>
        <p:spPr>
          <a:xfrm xmlns:a="http://schemas.openxmlformats.org/drawingml/2006/main">
            <a:off x="723900" y="523875"/>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4756F"/>
                </a:solidFill>
              </a:defRPr>
            </a:defPPr>
            <a:lvl1pPr>
              <a:defRPr sz="1650" b="0">
                <a:solidFill>
                  <a:srgbClr val="44756F"/>
                </a:solidFill>
              </a:defRPr>
            </a:lvl1pPr>
            <a:lvl2pPr>
              <a:defRPr sz="1650" b="0">
                <a:solidFill>
                  <a:srgbClr val="44756F"/>
                </a:solidFill>
              </a:defRPr>
            </a:lvl2pPr>
            <a:lvl3pPr>
              <a:defRPr sz="1650" b="0">
                <a:solidFill>
                  <a:srgbClr val="44756F"/>
                </a:solidFill>
              </a:defRPr>
            </a:lvl3pPr>
            <a:lvl4pPr>
              <a:defRPr sz="1650" b="0">
                <a:solidFill>
                  <a:srgbClr val="44756F"/>
                </a:solidFill>
              </a:defRPr>
            </a:lvl4pPr>
            <a:lvl5pPr>
              <a:defRPr sz="1650" b="0">
                <a:solidFill>
                  <a:srgbClr val="44756F"/>
                </a:solidFill>
              </a:defRPr>
            </a:lvl5pPr>
            <a:lvl6pPr>
              <a:defRPr sz="1650" b="0">
                <a:solidFill>
                  <a:srgbClr val="44756F"/>
                </a:solidFill>
              </a:defRPr>
            </a:lvl6pPr>
            <a:lvl7pPr>
              <a:defRPr sz="1650" b="0">
                <a:solidFill>
                  <a:srgbClr val="44756F"/>
                </a:solidFill>
              </a:defRPr>
            </a:lvl7pPr>
            <a:lvl8pPr>
              <a:defRPr sz="1650" b="0">
                <a:solidFill>
                  <a:srgbClr val="44756F"/>
                </a:solidFill>
              </a:defRPr>
            </a:lvl8pPr>
            <a:lvl9pPr>
              <a:defRPr sz="1650" b="0">
                <a:solidFill>
                  <a:srgbClr val="44756F"/>
                </a:solidFill>
              </a:defRPr>
            </a:lvl9pPr>
          </a:lstStyle>
          <a:p xmlns:a="http://schemas.openxmlformats.org/drawingml/2006/main">
            <a:pPr>
              <a:defRPr sz="1650" b="0">
                <a:solidFill>
                  <a:srgbClr val="44756F"/>
                </a:solidFill>
              </a:defRPr>
            </a:pPr>
            <a:r>
              <a:rPr sz="1650" b="0">
                <a:solidFill>
                  <a:srgbClr val="44756F"/>
                </a:solidFill>
              </a:rPr>
              <a:t>04</a:t>
            </a:r>
          </a:p>
        </p:txBody>
      </p:sp>
      <p:sp>
        <p:nvSpPr>
          <p:cNvPr id="2" name="">
            <a:extLst xmlns:a="http://schemas.openxmlformats.org/drawingml/2006/main">
              <a:ext uri="{FF2B5EF4-FFF2-40B4-BE49-F238E27FC236}">
                <a16:creationId xmlns:a16="http://schemas.microsoft.com/office/drawing/2014/main" id="{5786FA25-CA31-4B62-9080-920D8AC33B1F}"/>
              </a:ext>
            </a:extLst>
          </p:cNvPr>
          <p:cNvSpPr>
            <a:spLocks xmlns:a="http://schemas.openxmlformats.org/drawingml/2006/main" noGrp="1"/>
          </p:cNvSpPr>
          <p:nvPr/>
        </p:nvSpPr>
        <p:spPr>
          <a:xfrm xmlns:a="http://schemas.openxmlformats.org/drawingml/2006/main">
            <a:off x="723900" y="10668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2C3B"/>
                </a:solidFill>
              </a:defRPr>
            </a:defPPr>
            <a:lvl1pPr>
              <a:defRPr sz="3900" b="1">
                <a:solidFill>
                  <a:srgbClr val="132C3B"/>
                </a:solidFill>
              </a:defRPr>
            </a:lvl1pPr>
            <a:lvl2pPr>
              <a:defRPr sz="3900" b="1">
                <a:solidFill>
                  <a:srgbClr val="132C3B"/>
                </a:solidFill>
              </a:defRPr>
            </a:lvl2pPr>
            <a:lvl3pPr>
              <a:defRPr sz="3900" b="1">
                <a:solidFill>
                  <a:srgbClr val="132C3B"/>
                </a:solidFill>
              </a:defRPr>
            </a:lvl3pPr>
            <a:lvl4pPr>
              <a:defRPr sz="3900" b="1">
                <a:solidFill>
                  <a:srgbClr val="132C3B"/>
                </a:solidFill>
              </a:defRPr>
            </a:lvl4pPr>
            <a:lvl5pPr>
              <a:defRPr sz="3900" b="1">
                <a:solidFill>
                  <a:srgbClr val="132C3B"/>
                </a:solidFill>
              </a:defRPr>
            </a:lvl5pPr>
            <a:lvl6pPr>
              <a:defRPr sz="3900" b="1">
                <a:solidFill>
                  <a:srgbClr val="132C3B"/>
                </a:solidFill>
              </a:defRPr>
            </a:lvl6pPr>
            <a:lvl7pPr>
              <a:defRPr sz="3900" b="1">
                <a:solidFill>
                  <a:srgbClr val="132C3B"/>
                </a:solidFill>
              </a:defRPr>
            </a:lvl7pPr>
            <a:lvl8pPr>
              <a:defRPr sz="3900" b="1">
                <a:solidFill>
                  <a:srgbClr val="132C3B"/>
                </a:solidFill>
              </a:defRPr>
            </a:lvl8pPr>
            <a:lvl9pPr>
              <a:defRPr sz="3900" b="1">
                <a:solidFill>
                  <a:srgbClr val="132C3B"/>
                </a:solidFill>
              </a:defRPr>
            </a:lvl9pPr>
          </a:lstStyle>
          <a:p xmlns:a="http://schemas.openxmlformats.org/drawingml/2006/main">
            <a:pPr>
              <a:defRPr sz="3900" b="1">
                <a:solidFill>
                  <a:srgbClr val="132C3B"/>
                </a:solidFill>
              </a:defRPr>
            </a:pPr>
            <a:r>
              <a:rPr sz="3900" b="1">
                <a:solidFill>
                  <a:srgbClr val="132C3B"/>
                </a:solidFill>
              </a:rPr>
              <a:t>The order process</a:t>
            </a:r>
          </a:p>
        </p:txBody>
      </p:sp>
      <p:sp>
        <p:nvSpPr>
          <p:cNvPr id="3" name="">
            <a:extLst xmlns:a="http://schemas.openxmlformats.org/drawingml/2006/main">
              <a:ext uri="{FF2B5EF4-FFF2-40B4-BE49-F238E27FC236}">
                <a16:creationId xmlns:a16="http://schemas.microsoft.com/office/drawing/2014/main" id="{63F6F60B-73F6-4AD6-A488-854F6FF4F483}"/>
              </a:ext>
            </a:extLst>
          </p:cNvPr>
          <p:cNvSpPr>
            <a:spLocks xmlns:a="http://schemas.openxmlformats.org/drawingml/2006/main" noGrp="1"/>
          </p:cNvSpPr>
          <p:nvPr/>
        </p:nvSpPr>
        <p:spPr>
          <a:xfrm xmlns:a="http://schemas.openxmlformats.org/drawingml/2006/main">
            <a:off x="762000" y="21431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4756F"/>
                </a:solidFill>
              </a:defRPr>
            </a:defPPr>
            <a:lvl1pPr>
              <a:defRPr sz="2175" b="0">
                <a:solidFill>
                  <a:srgbClr val="44756F"/>
                </a:solidFill>
              </a:defRPr>
            </a:lvl1pPr>
            <a:lvl2pPr>
              <a:defRPr sz="2175" b="0">
                <a:solidFill>
                  <a:srgbClr val="44756F"/>
                </a:solidFill>
              </a:defRPr>
            </a:lvl2pPr>
            <a:lvl3pPr>
              <a:defRPr sz="2175" b="0">
                <a:solidFill>
                  <a:srgbClr val="44756F"/>
                </a:solidFill>
              </a:defRPr>
            </a:lvl3pPr>
            <a:lvl4pPr>
              <a:defRPr sz="2175" b="0">
                <a:solidFill>
                  <a:srgbClr val="44756F"/>
                </a:solidFill>
              </a:defRPr>
            </a:lvl4pPr>
            <a:lvl5pPr>
              <a:defRPr sz="2175" b="0">
                <a:solidFill>
                  <a:srgbClr val="44756F"/>
                </a:solidFill>
              </a:defRPr>
            </a:lvl5pPr>
            <a:lvl6pPr>
              <a:defRPr sz="2175" b="0">
                <a:solidFill>
                  <a:srgbClr val="44756F"/>
                </a:solidFill>
              </a:defRPr>
            </a:lvl6pPr>
            <a:lvl7pPr>
              <a:defRPr sz="2175" b="0">
                <a:solidFill>
                  <a:srgbClr val="44756F"/>
                </a:solidFill>
              </a:defRPr>
            </a:lvl7pPr>
            <a:lvl8pPr>
              <a:defRPr sz="2175" b="0">
                <a:solidFill>
                  <a:srgbClr val="44756F"/>
                </a:solidFill>
              </a:defRPr>
            </a:lvl8pPr>
            <a:lvl9pPr>
              <a:defRPr sz="2175" b="0">
                <a:solidFill>
                  <a:srgbClr val="44756F"/>
                </a:solidFill>
              </a:defRPr>
            </a:lvl9pPr>
          </a:lstStyle>
          <a:p xmlns:a="http://schemas.openxmlformats.org/drawingml/2006/main">
            <a:pPr>
              <a:defRPr sz="2175" b="0">
                <a:solidFill>
                  <a:srgbClr val="44756F"/>
                </a:solidFill>
              </a:defRPr>
            </a:pPr>
            <a:r>
              <a:rPr sz="2175" b="0">
                <a:solidFill>
                  <a:srgbClr val="44756F"/>
                </a:solidFill>
              </a:rPr>
              <a:t>A customer asks for printed materials</a:t>
            </a:r>
          </a:p>
        </p:txBody>
      </p:sp>
      <p:sp>
        <p:nvSpPr>
          <p:cNvPr id="4" name="">
            <a:extLst xmlns:a="http://schemas.openxmlformats.org/drawingml/2006/main">
              <a:ext uri="{FF2B5EF4-FFF2-40B4-BE49-F238E27FC236}">
                <a16:creationId xmlns:a16="http://schemas.microsoft.com/office/drawing/2014/main" id="{2F9B23B7-EA6A-4B08-B214-7499465E04D0}"/>
              </a:ext>
            </a:extLst>
          </p:cNvPr>
          <p:cNvSpPr>
            <a:spLocks xmlns:a="http://schemas.openxmlformats.org/drawingml/2006/main" noGrp="1"/>
          </p:cNvSpPr>
          <p:nvPr/>
        </p:nvSpPr>
        <p:spPr>
          <a:xfrm xmlns:a="http://schemas.openxmlformats.org/drawingml/2006/main">
            <a:off x="762000" y="3143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1. Select a customer</a:t>
            </a:r>
          </a:p>
        </p:txBody>
      </p:sp>
      <p:sp>
        <p:nvSpPr>
          <p:cNvPr id="5" name="">
            <a:extLst xmlns:a="http://schemas.openxmlformats.org/drawingml/2006/main">
              <a:ext uri="{FF2B5EF4-FFF2-40B4-BE49-F238E27FC236}">
                <a16:creationId xmlns:a16="http://schemas.microsoft.com/office/drawing/2014/main" id="{6837DC5D-1167-4E90-9677-96035D15A03C}"/>
              </a:ext>
            </a:extLst>
          </p:cNvPr>
          <p:cNvSpPr>
            <a:spLocks xmlns:a="http://schemas.openxmlformats.org/drawingml/2006/main" noGrp="1"/>
          </p:cNvSpPr>
          <p:nvPr/>
        </p:nvSpPr>
        <p:spPr>
          <a:xfrm xmlns:a="http://schemas.openxmlformats.org/drawingml/2006/main">
            <a:off x="762000" y="3695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2. Add products or services</a:t>
            </a:r>
          </a:p>
        </p:txBody>
      </p:sp>
      <p:sp>
        <p:nvSpPr>
          <p:cNvPr id="6" name="">
            <a:extLst xmlns:a="http://schemas.openxmlformats.org/drawingml/2006/main">
              <a:ext uri="{FF2B5EF4-FFF2-40B4-BE49-F238E27FC236}">
                <a16:creationId xmlns:a16="http://schemas.microsoft.com/office/drawing/2014/main" id="{D9063FB6-BF69-4288-94AE-4F180F50ADE2}"/>
              </a:ext>
            </a:extLst>
          </p:cNvPr>
          <p:cNvSpPr>
            <a:spLocks xmlns:a="http://schemas.openxmlformats.org/drawingml/2006/main" noGrp="1"/>
          </p:cNvSpPr>
          <p:nvPr/>
        </p:nvSpPr>
        <p:spPr>
          <a:xfrm xmlns:a="http://schemas.openxmlformats.org/drawingml/2006/main">
            <a:off x="762000" y="42481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3. Create the work order</a:t>
            </a:r>
          </a:p>
        </p:txBody>
      </p:sp>
      <p:sp>
        <p:nvSpPr>
          <p:cNvPr id="7" name="">
            <a:extLst xmlns:a="http://schemas.openxmlformats.org/drawingml/2006/main">
              <a:ext uri="{FF2B5EF4-FFF2-40B4-BE49-F238E27FC236}">
                <a16:creationId xmlns:a16="http://schemas.microsoft.com/office/drawing/2014/main" id="{B9FF33C4-95B4-490D-9E4C-1CF43A8BA61E}"/>
              </a:ext>
            </a:extLst>
          </p:cNvPr>
          <p:cNvSpPr>
            <a:spLocks xmlns:a="http://schemas.openxmlformats.org/drawingml/2006/main" noGrp="1"/>
          </p:cNvSpPr>
          <p:nvPr/>
        </p:nvSpPr>
        <p:spPr>
          <a:xfrm xmlns:a="http://schemas.openxmlformats.org/drawingml/2006/main">
            <a:off x="762000" y="48006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4. Record a payment</a:t>
            </a:r>
          </a:p>
        </p:txBody>
      </p:sp>
      <p:sp>
        <p:nvSpPr>
          <p:cNvPr id="8" name="">
            <a:extLst xmlns:a="http://schemas.openxmlformats.org/drawingml/2006/main">
              <a:ext uri="{FF2B5EF4-FFF2-40B4-BE49-F238E27FC236}">
                <a16:creationId xmlns:a16="http://schemas.microsoft.com/office/drawing/2014/main" id="{F43B0288-5100-4BA1-A71B-B2FDE5ABA485}"/>
              </a:ext>
            </a:extLst>
          </p:cNvPr>
          <p:cNvSpPr>
            <a:spLocks xmlns:a="http://schemas.openxmlformats.org/drawingml/2006/main" noGrp="1"/>
          </p:cNvSpPr>
          <p:nvPr/>
        </p:nvSpPr>
        <p:spPr>
          <a:xfrm xmlns:a="http://schemas.openxmlformats.org/drawingml/2006/main">
            <a:off x="762000" y="53530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5. Check the remaining balance</a:t>
            </a:r>
          </a:p>
        </p:txBody>
      </p:sp>
    </p:spTree>
    <p:extLst>
      <p:ext uri="{BB962C8B-B14F-4D97-AF65-F5344CB8AC3E}">
        <p14:creationId xmlns:p14="http://schemas.microsoft.com/office/powerpoint/2010/main" val="1960203655"/>
      </p:ext>
    </p:extLst>
  </p:cSld>
</p:sld>
</file>

<file path=ppt/slides/slide5.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D7D5E8-76B4-469D-97A8-D48AB584BBB6}"/>
              </a:ext>
            </a:extLst>
          </p:cNvPr>
          <p:cNvSpPr>
            <a:spLocks xmlns:a="http://schemas.openxmlformats.org/drawingml/2006/main" noGrp="1"/>
          </p:cNvSpPr>
          <p:nvPr/>
        </p:nvSpPr>
        <p:spPr>
          <a:xfrm xmlns:a="http://schemas.openxmlformats.org/drawingml/2006/main">
            <a:off x="723900" y="523875"/>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4756F"/>
                </a:solidFill>
              </a:defRPr>
            </a:defPPr>
            <a:lvl1pPr>
              <a:defRPr sz="1650" b="0">
                <a:solidFill>
                  <a:srgbClr val="44756F"/>
                </a:solidFill>
              </a:defRPr>
            </a:lvl1pPr>
            <a:lvl2pPr>
              <a:defRPr sz="1650" b="0">
                <a:solidFill>
                  <a:srgbClr val="44756F"/>
                </a:solidFill>
              </a:defRPr>
            </a:lvl2pPr>
            <a:lvl3pPr>
              <a:defRPr sz="1650" b="0">
                <a:solidFill>
                  <a:srgbClr val="44756F"/>
                </a:solidFill>
              </a:defRPr>
            </a:lvl3pPr>
            <a:lvl4pPr>
              <a:defRPr sz="1650" b="0">
                <a:solidFill>
                  <a:srgbClr val="44756F"/>
                </a:solidFill>
              </a:defRPr>
            </a:lvl4pPr>
            <a:lvl5pPr>
              <a:defRPr sz="1650" b="0">
                <a:solidFill>
                  <a:srgbClr val="44756F"/>
                </a:solidFill>
              </a:defRPr>
            </a:lvl5pPr>
            <a:lvl6pPr>
              <a:defRPr sz="1650" b="0">
                <a:solidFill>
                  <a:srgbClr val="44756F"/>
                </a:solidFill>
              </a:defRPr>
            </a:lvl6pPr>
            <a:lvl7pPr>
              <a:defRPr sz="1650" b="0">
                <a:solidFill>
                  <a:srgbClr val="44756F"/>
                </a:solidFill>
              </a:defRPr>
            </a:lvl7pPr>
            <a:lvl8pPr>
              <a:defRPr sz="1650" b="0">
                <a:solidFill>
                  <a:srgbClr val="44756F"/>
                </a:solidFill>
              </a:defRPr>
            </a:lvl8pPr>
            <a:lvl9pPr>
              <a:defRPr sz="1650" b="0">
                <a:solidFill>
                  <a:srgbClr val="44756F"/>
                </a:solidFill>
              </a:defRPr>
            </a:lvl9pPr>
          </a:lstStyle>
          <a:p xmlns:a="http://schemas.openxmlformats.org/drawingml/2006/main">
            <a:pPr>
              <a:defRPr sz="1650" b="0">
                <a:solidFill>
                  <a:srgbClr val="44756F"/>
                </a:solidFill>
              </a:defRPr>
            </a:pPr>
            <a:r>
              <a:rPr sz="1650" b="0">
                <a:solidFill>
                  <a:srgbClr val="44756F"/>
                </a:solidFill>
              </a:rPr>
              <a:t>05</a:t>
            </a:r>
          </a:p>
        </p:txBody>
      </p:sp>
      <p:sp>
        <p:nvSpPr>
          <p:cNvPr id="2" name="">
            <a:extLst xmlns:a="http://schemas.openxmlformats.org/drawingml/2006/main">
              <a:ext uri="{FF2B5EF4-FFF2-40B4-BE49-F238E27FC236}">
                <a16:creationId xmlns:a16="http://schemas.microsoft.com/office/drawing/2014/main" id="{6DCE9FCC-1E41-4851-8B08-7FDCF05A2502}"/>
              </a:ext>
            </a:extLst>
          </p:cNvPr>
          <p:cNvSpPr>
            <a:spLocks xmlns:a="http://schemas.openxmlformats.org/drawingml/2006/main" noGrp="1"/>
          </p:cNvSpPr>
          <p:nvPr/>
        </p:nvSpPr>
        <p:spPr>
          <a:xfrm xmlns:a="http://schemas.openxmlformats.org/drawingml/2006/main">
            <a:off x="723900" y="10668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2C3B"/>
                </a:solidFill>
              </a:defRPr>
            </a:defPPr>
            <a:lvl1pPr>
              <a:defRPr sz="3900" b="1">
                <a:solidFill>
                  <a:srgbClr val="132C3B"/>
                </a:solidFill>
              </a:defRPr>
            </a:lvl1pPr>
            <a:lvl2pPr>
              <a:defRPr sz="3900" b="1">
                <a:solidFill>
                  <a:srgbClr val="132C3B"/>
                </a:solidFill>
              </a:defRPr>
            </a:lvl2pPr>
            <a:lvl3pPr>
              <a:defRPr sz="3900" b="1">
                <a:solidFill>
                  <a:srgbClr val="132C3B"/>
                </a:solidFill>
              </a:defRPr>
            </a:lvl3pPr>
            <a:lvl4pPr>
              <a:defRPr sz="3900" b="1">
                <a:solidFill>
                  <a:srgbClr val="132C3B"/>
                </a:solidFill>
              </a:defRPr>
            </a:lvl4pPr>
            <a:lvl5pPr>
              <a:defRPr sz="3900" b="1">
                <a:solidFill>
                  <a:srgbClr val="132C3B"/>
                </a:solidFill>
              </a:defRPr>
            </a:lvl5pPr>
            <a:lvl6pPr>
              <a:defRPr sz="3900" b="1">
                <a:solidFill>
                  <a:srgbClr val="132C3B"/>
                </a:solidFill>
              </a:defRPr>
            </a:lvl6pPr>
            <a:lvl7pPr>
              <a:defRPr sz="3900" b="1">
                <a:solidFill>
                  <a:srgbClr val="132C3B"/>
                </a:solidFill>
              </a:defRPr>
            </a:lvl7pPr>
            <a:lvl8pPr>
              <a:defRPr sz="3900" b="1">
                <a:solidFill>
                  <a:srgbClr val="132C3B"/>
                </a:solidFill>
              </a:defRPr>
            </a:lvl8pPr>
            <a:lvl9pPr>
              <a:defRPr sz="3900" b="1">
                <a:solidFill>
                  <a:srgbClr val="132C3B"/>
                </a:solidFill>
              </a:defRPr>
            </a:lvl9pPr>
          </a:lstStyle>
          <a:p xmlns:a="http://schemas.openxmlformats.org/drawingml/2006/main">
            <a:pPr>
              <a:defRPr sz="3900" b="1">
                <a:solidFill>
                  <a:srgbClr val="132C3B"/>
                </a:solidFill>
              </a:defRPr>
            </a:pPr>
            <a:r>
              <a:rPr sz="3900" b="1">
                <a:solidFill>
                  <a:srgbClr val="132C3B"/>
                </a:solidFill>
              </a:rPr>
              <a:t>Main classes</a:t>
            </a:r>
          </a:p>
        </p:txBody>
      </p:sp>
      <p:sp>
        <p:nvSpPr>
          <p:cNvPr id="3" name="">
            <a:extLst xmlns:a="http://schemas.openxmlformats.org/drawingml/2006/main">
              <a:ext uri="{FF2B5EF4-FFF2-40B4-BE49-F238E27FC236}">
                <a16:creationId xmlns:a16="http://schemas.microsoft.com/office/drawing/2014/main" id="{A6D1E48F-C5DB-4A0E-AB4B-E6FB251D8EDF}"/>
              </a:ext>
            </a:extLst>
          </p:cNvPr>
          <p:cNvSpPr>
            <a:spLocks xmlns:a="http://schemas.openxmlformats.org/drawingml/2006/main" noGrp="1"/>
          </p:cNvSpPr>
          <p:nvPr/>
        </p:nvSpPr>
        <p:spPr>
          <a:xfrm xmlns:a="http://schemas.openxmlformats.org/drawingml/2006/main">
            <a:off x="762000" y="21431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4756F"/>
                </a:solidFill>
              </a:defRPr>
            </a:defPPr>
            <a:lvl1pPr>
              <a:defRPr sz="2175" b="0">
                <a:solidFill>
                  <a:srgbClr val="44756F"/>
                </a:solidFill>
              </a:defRPr>
            </a:lvl1pPr>
            <a:lvl2pPr>
              <a:defRPr sz="2175" b="0">
                <a:solidFill>
                  <a:srgbClr val="44756F"/>
                </a:solidFill>
              </a:defRPr>
            </a:lvl2pPr>
            <a:lvl3pPr>
              <a:defRPr sz="2175" b="0">
                <a:solidFill>
                  <a:srgbClr val="44756F"/>
                </a:solidFill>
              </a:defRPr>
            </a:lvl3pPr>
            <a:lvl4pPr>
              <a:defRPr sz="2175" b="0">
                <a:solidFill>
                  <a:srgbClr val="44756F"/>
                </a:solidFill>
              </a:defRPr>
            </a:lvl4pPr>
            <a:lvl5pPr>
              <a:defRPr sz="2175" b="0">
                <a:solidFill>
                  <a:srgbClr val="44756F"/>
                </a:solidFill>
              </a:defRPr>
            </a:lvl5pPr>
            <a:lvl6pPr>
              <a:defRPr sz="2175" b="0">
                <a:solidFill>
                  <a:srgbClr val="44756F"/>
                </a:solidFill>
              </a:defRPr>
            </a:lvl6pPr>
            <a:lvl7pPr>
              <a:defRPr sz="2175" b="0">
                <a:solidFill>
                  <a:srgbClr val="44756F"/>
                </a:solidFill>
              </a:defRPr>
            </a:lvl7pPr>
            <a:lvl8pPr>
              <a:defRPr sz="2175" b="0">
                <a:solidFill>
                  <a:srgbClr val="44756F"/>
                </a:solidFill>
              </a:defRPr>
            </a:lvl8pPr>
            <a:lvl9pPr>
              <a:defRPr sz="2175" b="0">
                <a:solidFill>
                  <a:srgbClr val="44756F"/>
                </a:solidFill>
              </a:defRPr>
            </a:lvl9pPr>
          </a:lstStyle>
          <a:p xmlns:a="http://schemas.openxmlformats.org/drawingml/2006/main">
            <a:pPr>
              <a:defRPr sz="2175" b="0">
                <a:solidFill>
                  <a:srgbClr val="44756F"/>
                </a:solidFill>
              </a:defRPr>
            </a:pPr>
            <a:r>
              <a:rPr sz="2175" b="0">
                <a:solidFill>
                  <a:srgbClr val="44756F"/>
                </a:solidFill>
              </a:rPr>
              <a:t>Each class represents part of the business</a:t>
            </a:r>
          </a:p>
        </p:txBody>
      </p:sp>
      <p:sp>
        <p:nvSpPr>
          <p:cNvPr id="4" name="">
            <a:extLst xmlns:a="http://schemas.openxmlformats.org/drawingml/2006/main">
              <a:ext uri="{FF2B5EF4-FFF2-40B4-BE49-F238E27FC236}">
                <a16:creationId xmlns:a16="http://schemas.microsoft.com/office/drawing/2014/main" id="{60AB86CD-1A21-4DB8-B832-2164AF1520FA}"/>
              </a:ext>
            </a:extLst>
          </p:cNvPr>
          <p:cNvSpPr>
            <a:spLocks xmlns:a="http://schemas.openxmlformats.org/drawingml/2006/main" noGrp="1"/>
          </p:cNvSpPr>
          <p:nvPr/>
        </p:nvSpPr>
        <p:spPr>
          <a:xfrm xmlns:a="http://schemas.openxmlformats.org/drawingml/2006/main">
            <a:off x="762000" y="3143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Customer: customer information</a:t>
            </a:r>
          </a:p>
        </p:txBody>
      </p:sp>
      <p:sp>
        <p:nvSpPr>
          <p:cNvPr id="5" name="">
            <a:extLst xmlns:a="http://schemas.openxmlformats.org/drawingml/2006/main">
              <a:ext uri="{FF2B5EF4-FFF2-40B4-BE49-F238E27FC236}">
                <a16:creationId xmlns:a16="http://schemas.microsoft.com/office/drawing/2014/main" id="{BB924E50-300B-4BF6-8750-6003960269B1}"/>
              </a:ext>
            </a:extLst>
          </p:cNvPr>
          <p:cNvSpPr>
            <a:spLocks xmlns:a="http://schemas.openxmlformats.org/drawingml/2006/main" noGrp="1"/>
          </p:cNvSpPr>
          <p:nvPr/>
        </p:nvSpPr>
        <p:spPr>
          <a:xfrm xmlns:a="http://schemas.openxmlformats.org/drawingml/2006/main">
            <a:off x="762000" y="3695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CatalogItem: common product and service data</a:t>
            </a:r>
          </a:p>
        </p:txBody>
      </p:sp>
      <p:sp>
        <p:nvSpPr>
          <p:cNvPr id="6" name="">
            <a:extLst xmlns:a="http://schemas.openxmlformats.org/drawingml/2006/main">
              <a:ext uri="{FF2B5EF4-FFF2-40B4-BE49-F238E27FC236}">
                <a16:creationId xmlns:a16="http://schemas.microsoft.com/office/drawing/2014/main" id="{0B25B19A-E8D6-4D90-AF34-C303D66DE81E}"/>
              </a:ext>
            </a:extLst>
          </p:cNvPr>
          <p:cNvSpPr>
            <a:spLocks xmlns:a="http://schemas.openxmlformats.org/drawingml/2006/main" noGrp="1"/>
          </p:cNvSpPr>
          <p:nvPr/>
        </p:nvSpPr>
        <p:spPr>
          <a:xfrm xmlns:a="http://schemas.openxmlformats.org/drawingml/2006/main">
            <a:off x="762000" y="42481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WorkOrder: details, total, and payments</a:t>
            </a:r>
          </a:p>
        </p:txBody>
      </p:sp>
      <p:sp>
        <p:nvSpPr>
          <p:cNvPr id="7" name="">
            <a:extLst xmlns:a="http://schemas.openxmlformats.org/drawingml/2006/main">
              <a:ext uri="{FF2B5EF4-FFF2-40B4-BE49-F238E27FC236}">
                <a16:creationId xmlns:a16="http://schemas.microsoft.com/office/drawing/2014/main" id="{84F89562-8231-49CC-AC9C-2DAFD95AA53F}"/>
              </a:ext>
            </a:extLst>
          </p:cNvPr>
          <p:cNvSpPr>
            <a:spLocks xmlns:a="http://schemas.openxmlformats.org/drawingml/2006/main" noGrp="1"/>
          </p:cNvSpPr>
          <p:nvPr/>
        </p:nvSpPr>
        <p:spPr>
          <a:xfrm xmlns:a="http://schemas.openxmlformats.org/drawingml/2006/main">
            <a:off x="762000" y="48006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CashRegister: income and expenses</a:t>
            </a:r>
          </a:p>
        </p:txBody>
      </p:sp>
    </p:spTree>
    <p:extLst>
      <p:ext uri="{BB962C8B-B14F-4D97-AF65-F5344CB8AC3E}">
        <p14:creationId xmlns:p14="http://schemas.microsoft.com/office/powerpoint/2010/main" val="34935866"/>
      </p:ext>
    </p:extLst>
  </p:cSld>
</p:sld>
</file>

<file path=ppt/slides/slide6.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7F123B-2879-4C31-AFB0-2C2C8EF1C9DA}"/>
              </a:ext>
            </a:extLst>
          </p:cNvPr>
          <p:cNvSpPr>
            <a:spLocks xmlns:a="http://schemas.openxmlformats.org/drawingml/2006/main" noGrp="1"/>
          </p:cNvSpPr>
          <p:nvPr/>
        </p:nvSpPr>
        <p:spPr>
          <a:xfrm xmlns:a="http://schemas.openxmlformats.org/drawingml/2006/main">
            <a:off x="723900" y="523875"/>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4756F"/>
                </a:solidFill>
              </a:defRPr>
            </a:defPPr>
            <a:lvl1pPr>
              <a:defRPr sz="1650" b="0">
                <a:solidFill>
                  <a:srgbClr val="44756F"/>
                </a:solidFill>
              </a:defRPr>
            </a:lvl1pPr>
            <a:lvl2pPr>
              <a:defRPr sz="1650" b="0">
                <a:solidFill>
                  <a:srgbClr val="44756F"/>
                </a:solidFill>
              </a:defRPr>
            </a:lvl2pPr>
            <a:lvl3pPr>
              <a:defRPr sz="1650" b="0">
                <a:solidFill>
                  <a:srgbClr val="44756F"/>
                </a:solidFill>
              </a:defRPr>
            </a:lvl3pPr>
            <a:lvl4pPr>
              <a:defRPr sz="1650" b="0">
                <a:solidFill>
                  <a:srgbClr val="44756F"/>
                </a:solidFill>
              </a:defRPr>
            </a:lvl4pPr>
            <a:lvl5pPr>
              <a:defRPr sz="1650" b="0">
                <a:solidFill>
                  <a:srgbClr val="44756F"/>
                </a:solidFill>
              </a:defRPr>
            </a:lvl5pPr>
            <a:lvl6pPr>
              <a:defRPr sz="1650" b="0">
                <a:solidFill>
                  <a:srgbClr val="44756F"/>
                </a:solidFill>
              </a:defRPr>
            </a:lvl6pPr>
            <a:lvl7pPr>
              <a:defRPr sz="1650" b="0">
                <a:solidFill>
                  <a:srgbClr val="44756F"/>
                </a:solidFill>
              </a:defRPr>
            </a:lvl7pPr>
            <a:lvl8pPr>
              <a:defRPr sz="1650" b="0">
                <a:solidFill>
                  <a:srgbClr val="44756F"/>
                </a:solidFill>
              </a:defRPr>
            </a:lvl8pPr>
            <a:lvl9pPr>
              <a:defRPr sz="1650" b="0">
                <a:solidFill>
                  <a:srgbClr val="44756F"/>
                </a:solidFill>
              </a:defRPr>
            </a:lvl9pPr>
          </a:lstStyle>
          <a:p xmlns:a="http://schemas.openxmlformats.org/drawingml/2006/main">
            <a:pPr>
              <a:defRPr sz="1650" b="0">
                <a:solidFill>
                  <a:srgbClr val="44756F"/>
                </a:solidFill>
              </a:defRPr>
            </a:pPr>
            <a:r>
              <a:rPr sz="1650" b="0">
                <a:solidFill>
                  <a:srgbClr val="44756F"/>
                </a:solidFill>
              </a:rPr>
              <a:t>06</a:t>
            </a:r>
          </a:p>
        </p:txBody>
      </p:sp>
      <p:sp>
        <p:nvSpPr>
          <p:cNvPr id="2" name="">
            <a:extLst xmlns:a="http://schemas.openxmlformats.org/drawingml/2006/main">
              <a:ext uri="{FF2B5EF4-FFF2-40B4-BE49-F238E27FC236}">
                <a16:creationId xmlns:a16="http://schemas.microsoft.com/office/drawing/2014/main" id="{12051152-C331-4120-95F6-E2C260EF912C}"/>
              </a:ext>
            </a:extLst>
          </p:cNvPr>
          <p:cNvSpPr>
            <a:spLocks xmlns:a="http://schemas.openxmlformats.org/drawingml/2006/main" noGrp="1"/>
          </p:cNvSpPr>
          <p:nvPr/>
        </p:nvSpPr>
        <p:spPr>
          <a:xfrm xmlns:a="http://schemas.openxmlformats.org/drawingml/2006/main">
            <a:off x="723900" y="10668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2C3B"/>
                </a:solidFill>
              </a:defRPr>
            </a:defPPr>
            <a:lvl1pPr>
              <a:defRPr sz="3900" b="1">
                <a:solidFill>
                  <a:srgbClr val="132C3B"/>
                </a:solidFill>
              </a:defRPr>
            </a:lvl1pPr>
            <a:lvl2pPr>
              <a:defRPr sz="3900" b="1">
                <a:solidFill>
                  <a:srgbClr val="132C3B"/>
                </a:solidFill>
              </a:defRPr>
            </a:lvl2pPr>
            <a:lvl3pPr>
              <a:defRPr sz="3900" b="1">
                <a:solidFill>
                  <a:srgbClr val="132C3B"/>
                </a:solidFill>
              </a:defRPr>
            </a:lvl3pPr>
            <a:lvl4pPr>
              <a:defRPr sz="3900" b="1">
                <a:solidFill>
                  <a:srgbClr val="132C3B"/>
                </a:solidFill>
              </a:defRPr>
            </a:lvl4pPr>
            <a:lvl5pPr>
              <a:defRPr sz="3900" b="1">
                <a:solidFill>
                  <a:srgbClr val="132C3B"/>
                </a:solidFill>
              </a:defRPr>
            </a:lvl5pPr>
            <a:lvl6pPr>
              <a:defRPr sz="3900" b="1">
                <a:solidFill>
                  <a:srgbClr val="132C3B"/>
                </a:solidFill>
              </a:defRPr>
            </a:lvl6pPr>
            <a:lvl7pPr>
              <a:defRPr sz="3900" b="1">
                <a:solidFill>
                  <a:srgbClr val="132C3B"/>
                </a:solidFill>
              </a:defRPr>
            </a:lvl7pPr>
            <a:lvl8pPr>
              <a:defRPr sz="3900" b="1">
                <a:solidFill>
                  <a:srgbClr val="132C3B"/>
                </a:solidFill>
              </a:defRPr>
            </a:lvl8pPr>
            <a:lvl9pPr>
              <a:defRPr sz="3900" b="1">
                <a:solidFill>
                  <a:srgbClr val="132C3B"/>
                </a:solidFill>
              </a:defRPr>
            </a:lvl9pPr>
          </a:lstStyle>
          <a:p xmlns:a="http://schemas.openxmlformats.org/drawingml/2006/main">
            <a:pPr>
              <a:defRPr sz="3900" b="1">
                <a:solidFill>
                  <a:srgbClr val="132C3B"/>
                </a:solidFill>
              </a:defRPr>
            </a:pPr>
            <a:r>
              <a:rPr sz="3900" b="1">
                <a:solidFill>
                  <a:srgbClr val="132C3B"/>
                </a:solidFill>
              </a:rPr>
              <a:t>Object-oriented programming</a:t>
            </a:r>
          </a:p>
        </p:txBody>
      </p:sp>
      <p:sp>
        <p:nvSpPr>
          <p:cNvPr id="3" name="">
            <a:extLst xmlns:a="http://schemas.openxmlformats.org/drawingml/2006/main">
              <a:ext uri="{FF2B5EF4-FFF2-40B4-BE49-F238E27FC236}">
                <a16:creationId xmlns:a16="http://schemas.microsoft.com/office/drawing/2014/main" id="{E2D42AC9-1273-496C-BEE6-8041183B24B3}"/>
              </a:ext>
            </a:extLst>
          </p:cNvPr>
          <p:cNvSpPr>
            <a:spLocks xmlns:a="http://schemas.openxmlformats.org/drawingml/2006/main" noGrp="1"/>
          </p:cNvSpPr>
          <p:nvPr/>
        </p:nvSpPr>
        <p:spPr>
          <a:xfrm xmlns:a="http://schemas.openxmlformats.org/drawingml/2006/main">
            <a:off x="762000" y="21431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4756F"/>
                </a:solidFill>
              </a:defRPr>
            </a:defPPr>
            <a:lvl1pPr>
              <a:defRPr sz="2175" b="0">
                <a:solidFill>
                  <a:srgbClr val="44756F"/>
                </a:solidFill>
              </a:defRPr>
            </a:lvl1pPr>
            <a:lvl2pPr>
              <a:defRPr sz="2175" b="0">
                <a:solidFill>
                  <a:srgbClr val="44756F"/>
                </a:solidFill>
              </a:defRPr>
            </a:lvl2pPr>
            <a:lvl3pPr>
              <a:defRPr sz="2175" b="0">
                <a:solidFill>
                  <a:srgbClr val="44756F"/>
                </a:solidFill>
              </a:defRPr>
            </a:lvl3pPr>
            <a:lvl4pPr>
              <a:defRPr sz="2175" b="0">
                <a:solidFill>
                  <a:srgbClr val="44756F"/>
                </a:solidFill>
              </a:defRPr>
            </a:lvl4pPr>
            <a:lvl5pPr>
              <a:defRPr sz="2175" b="0">
                <a:solidFill>
                  <a:srgbClr val="44756F"/>
                </a:solidFill>
              </a:defRPr>
            </a:lvl5pPr>
            <a:lvl6pPr>
              <a:defRPr sz="2175" b="0">
                <a:solidFill>
                  <a:srgbClr val="44756F"/>
                </a:solidFill>
              </a:defRPr>
            </a:lvl6pPr>
            <a:lvl7pPr>
              <a:defRPr sz="2175" b="0">
                <a:solidFill>
                  <a:srgbClr val="44756F"/>
                </a:solidFill>
              </a:defRPr>
            </a:lvl7pPr>
            <a:lvl8pPr>
              <a:defRPr sz="2175" b="0">
                <a:solidFill>
                  <a:srgbClr val="44756F"/>
                </a:solidFill>
              </a:defRPr>
            </a:lvl8pPr>
            <a:lvl9pPr>
              <a:defRPr sz="2175" b="0">
                <a:solidFill>
                  <a:srgbClr val="44756F"/>
                </a:solidFill>
              </a:defRPr>
            </a:lvl9pPr>
          </a:lstStyle>
          <a:p xmlns:a="http://schemas.openxmlformats.org/drawingml/2006/main">
            <a:pPr>
              <a:defRPr sz="2175" b="0">
                <a:solidFill>
                  <a:srgbClr val="44756F"/>
                </a:solidFill>
              </a:defRPr>
            </a:pPr>
            <a:r>
              <a:rPr sz="2175" b="0">
                <a:solidFill>
                  <a:srgbClr val="44756F"/>
                </a:solidFill>
              </a:rPr>
              <a:t>Products and services share a base class</a:t>
            </a:r>
          </a:p>
        </p:txBody>
      </p:sp>
      <p:sp>
        <p:nvSpPr>
          <p:cNvPr id="4" name="">
            <a:extLst xmlns:a="http://schemas.openxmlformats.org/drawingml/2006/main">
              <a:ext uri="{FF2B5EF4-FFF2-40B4-BE49-F238E27FC236}">
                <a16:creationId xmlns:a16="http://schemas.microsoft.com/office/drawing/2014/main" id="{9FD43829-5373-4359-99D4-2AAA2342CCDB}"/>
              </a:ext>
            </a:extLst>
          </p:cNvPr>
          <p:cNvSpPr>
            <a:spLocks xmlns:a="http://schemas.openxmlformats.org/drawingml/2006/main" noGrp="1"/>
          </p:cNvSpPr>
          <p:nvPr/>
        </p:nvSpPr>
        <p:spPr>
          <a:xfrm xmlns:a="http://schemas.openxmlformats.org/drawingml/2006/main">
            <a:off x="762000" y="3143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Encapsulation: private data and methods</a:t>
            </a:r>
          </a:p>
        </p:txBody>
      </p:sp>
      <p:sp>
        <p:nvSpPr>
          <p:cNvPr id="5" name="">
            <a:extLst xmlns:a="http://schemas.openxmlformats.org/drawingml/2006/main">
              <a:ext uri="{FF2B5EF4-FFF2-40B4-BE49-F238E27FC236}">
                <a16:creationId xmlns:a16="http://schemas.microsoft.com/office/drawing/2014/main" id="{1DE76A0E-889E-4342-8F20-4A2FF201D632}"/>
              </a:ext>
            </a:extLst>
          </p:cNvPr>
          <p:cNvSpPr>
            <a:spLocks xmlns:a="http://schemas.openxmlformats.org/drawingml/2006/main" noGrp="1"/>
          </p:cNvSpPr>
          <p:nvPr/>
        </p:nvSpPr>
        <p:spPr>
          <a:xfrm xmlns:a="http://schemas.openxmlformats.org/drawingml/2006/main">
            <a:off x="762000" y="3695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Inheritance: Product and Service extend CatalogItem</a:t>
            </a:r>
          </a:p>
        </p:txBody>
      </p:sp>
      <p:sp>
        <p:nvSpPr>
          <p:cNvPr id="6" name="">
            <a:extLst xmlns:a="http://schemas.openxmlformats.org/drawingml/2006/main">
              <a:ext uri="{FF2B5EF4-FFF2-40B4-BE49-F238E27FC236}">
                <a16:creationId xmlns:a16="http://schemas.microsoft.com/office/drawing/2014/main" id="{45DE6002-4C31-49D7-9FAC-B24416988276}"/>
              </a:ext>
            </a:extLst>
          </p:cNvPr>
          <p:cNvSpPr>
            <a:spLocks xmlns:a="http://schemas.openxmlformats.org/drawingml/2006/main" noGrp="1"/>
          </p:cNvSpPr>
          <p:nvPr/>
        </p:nvSpPr>
        <p:spPr>
          <a:xfrm xmlns:a="http://schemas.openxmlformats.org/drawingml/2006/main">
            <a:off x="762000" y="42481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Abstraction: CatalogItem is abstract</a:t>
            </a:r>
          </a:p>
        </p:txBody>
      </p:sp>
      <p:sp>
        <p:nvSpPr>
          <p:cNvPr id="7" name="">
            <a:extLst xmlns:a="http://schemas.openxmlformats.org/drawingml/2006/main">
              <a:ext uri="{FF2B5EF4-FFF2-40B4-BE49-F238E27FC236}">
                <a16:creationId xmlns:a16="http://schemas.microsoft.com/office/drawing/2014/main" id="{25E2126A-3B5A-4C74-ACF0-B3655208E46B}"/>
              </a:ext>
            </a:extLst>
          </p:cNvPr>
          <p:cNvSpPr>
            <a:spLocks xmlns:a="http://schemas.openxmlformats.org/drawingml/2006/main" noGrp="1"/>
          </p:cNvSpPr>
          <p:nvPr/>
        </p:nvSpPr>
        <p:spPr>
          <a:xfrm xmlns:a="http://schemas.openxmlformats.org/drawingml/2006/main">
            <a:off x="762000" y="48006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Polymorphism: each class defines getItemType()</a:t>
            </a:r>
          </a:p>
        </p:txBody>
      </p:sp>
    </p:spTree>
    <p:extLst>
      <p:ext uri="{BB962C8B-B14F-4D97-AF65-F5344CB8AC3E}">
        <p14:creationId xmlns:p14="http://schemas.microsoft.com/office/powerpoint/2010/main" val="743006132"/>
      </p:ext>
    </p:extLst>
  </p:cSld>
</p:sld>
</file>

<file path=ppt/slides/slide7.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F06B24-E337-45F6-8E66-B8800E2D8158}"/>
              </a:ext>
            </a:extLst>
          </p:cNvPr>
          <p:cNvSpPr>
            <a:spLocks xmlns:a="http://schemas.openxmlformats.org/drawingml/2006/main" noGrp="1"/>
          </p:cNvSpPr>
          <p:nvPr/>
        </p:nvSpPr>
        <p:spPr>
          <a:xfrm xmlns:a="http://schemas.openxmlformats.org/drawingml/2006/main">
            <a:off x="723900" y="523875"/>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4756F"/>
                </a:solidFill>
              </a:defRPr>
            </a:defPPr>
            <a:lvl1pPr>
              <a:defRPr sz="1650" b="0">
                <a:solidFill>
                  <a:srgbClr val="44756F"/>
                </a:solidFill>
              </a:defRPr>
            </a:lvl1pPr>
            <a:lvl2pPr>
              <a:defRPr sz="1650" b="0">
                <a:solidFill>
                  <a:srgbClr val="44756F"/>
                </a:solidFill>
              </a:defRPr>
            </a:lvl2pPr>
            <a:lvl3pPr>
              <a:defRPr sz="1650" b="0">
                <a:solidFill>
                  <a:srgbClr val="44756F"/>
                </a:solidFill>
              </a:defRPr>
            </a:lvl3pPr>
            <a:lvl4pPr>
              <a:defRPr sz="1650" b="0">
                <a:solidFill>
                  <a:srgbClr val="44756F"/>
                </a:solidFill>
              </a:defRPr>
            </a:lvl4pPr>
            <a:lvl5pPr>
              <a:defRPr sz="1650" b="0">
                <a:solidFill>
                  <a:srgbClr val="44756F"/>
                </a:solidFill>
              </a:defRPr>
            </a:lvl5pPr>
            <a:lvl6pPr>
              <a:defRPr sz="1650" b="0">
                <a:solidFill>
                  <a:srgbClr val="44756F"/>
                </a:solidFill>
              </a:defRPr>
            </a:lvl6pPr>
            <a:lvl7pPr>
              <a:defRPr sz="1650" b="0">
                <a:solidFill>
                  <a:srgbClr val="44756F"/>
                </a:solidFill>
              </a:defRPr>
            </a:lvl7pPr>
            <a:lvl8pPr>
              <a:defRPr sz="1650" b="0">
                <a:solidFill>
                  <a:srgbClr val="44756F"/>
                </a:solidFill>
              </a:defRPr>
            </a:lvl8pPr>
            <a:lvl9pPr>
              <a:defRPr sz="1650" b="0">
                <a:solidFill>
                  <a:srgbClr val="44756F"/>
                </a:solidFill>
              </a:defRPr>
            </a:lvl9pPr>
          </a:lstStyle>
          <a:p xmlns:a="http://schemas.openxmlformats.org/drawingml/2006/main">
            <a:pPr>
              <a:defRPr sz="1650" b="0">
                <a:solidFill>
                  <a:srgbClr val="44756F"/>
                </a:solidFill>
              </a:defRPr>
            </a:pPr>
            <a:r>
              <a:rPr sz="1650" b="0">
                <a:solidFill>
                  <a:srgbClr val="44756F"/>
                </a:solidFill>
              </a:rPr>
              <a:t>07</a:t>
            </a:r>
          </a:p>
        </p:txBody>
      </p:sp>
      <p:sp>
        <p:nvSpPr>
          <p:cNvPr id="2" name="">
            <a:extLst xmlns:a="http://schemas.openxmlformats.org/drawingml/2006/main">
              <a:ext uri="{FF2B5EF4-FFF2-40B4-BE49-F238E27FC236}">
                <a16:creationId xmlns:a16="http://schemas.microsoft.com/office/drawing/2014/main" id="{C8FD771D-BD42-4BAA-B022-9D6507815272}"/>
              </a:ext>
            </a:extLst>
          </p:cNvPr>
          <p:cNvSpPr>
            <a:spLocks xmlns:a="http://schemas.openxmlformats.org/drawingml/2006/main" noGrp="1"/>
          </p:cNvSpPr>
          <p:nvPr/>
        </p:nvSpPr>
        <p:spPr>
          <a:xfrm xmlns:a="http://schemas.openxmlformats.org/drawingml/2006/main">
            <a:off x="723900" y="10668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2C3B"/>
                </a:solidFill>
              </a:defRPr>
            </a:defPPr>
            <a:lvl1pPr>
              <a:defRPr sz="3900" b="1">
                <a:solidFill>
                  <a:srgbClr val="132C3B"/>
                </a:solidFill>
              </a:defRPr>
            </a:lvl1pPr>
            <a:lvl2pPr>
              <a:defRPr sz="3900" b="1">
                <a:solidFill>
                  <a:srgbClr val="132C3B"/>
                </a:solidFill>
              </a:defRPr>
            </a:lvl2pPr>
            <a:lvl3pPr>
              <a:defRPr sz="3900" b="1">
                <a:solidFill>
                  <a:srgbClr val="132C3B"/>
                </a:solidFill>
              </a:defRPr>
            </a:lvl3pPr>
            <a:lvl4pPr>
              <a:defRPr sz="3900" b="1">
                <a:solidFill>
                  <a:srgbClr val="132C3B"/>
                </a:solidFill>
              </a:defRPr>
            </a:lvl4pPr>
            <a:lvl5pPr>
              <a:defRPr sz="3900" b="1">
                <a:solidFill>
                  <a:srgbClr val="132C3B"/>
                </a:solidFill>
              </a:defRPr>
            </a:lvl5pPr>
            <a:lvl6pPr>
              <a:defRPr sz="3900" b="1">
                <a:solidFill>
                  <a:srgbClr val="132C3B"/>
                </a:solidFill>
              </a:defRPr>
            </a:lvl6pPr>
            <a:lvl7pPr>
              <a:defRPr sz="3900" b="1">
                <a:solidFill>
                  <a:srgbClr val="132C3B"/>
                </a:solidFill>
              </a:defRPr>
            </a:lvl7pPr>
            <a:lvl8pPr>
              <a:defRPr sz="3900" b="1">
                <a:solidFill>
                  <a:srgbClr val="132C3B"/>
                </a:solidFill>
              </a:defRPr>
            </a:lvl8pPr>
            <a:lvl9pPr>
              <a:defRPr sz="3900" b="1">
                <a:solidFill>
                  <a:srgbClr val="132C3B"/>
                </a:solidFill>
              </a:defRPr>
            </a:lvl9pPr>
          </a:lstStyle>
          <a:p xmlns:a="http://schemas.openxmlformats.org/drawingml/2006/main">
            <a:pPr>
              <a:defRPr sz="3900" b="1">
                <a:solidFill>
                  <a:srgbClr val="132C3B"/>
                </a:solidFill>
              </a:defRPr>
            </a:pPr>
            <a:r>
              <a:rPr sz="3900" b="1">
                <a:solidFill>
                  <a:srgbClr val="132C3B"/>
                </a:solidFill>
              </a:rPr>
              <a:t>Data storage</a:t>
            </a:r>
          </a:p>
        </p:txBody>
      </p:sp>
      <p:sp>
        <p:nvSpPr>
          <p:cNvPr id="3" name="">
            <a:extLst xmlns:a="http://schemas.openxmlformats.org/drawingml/2006/main">
              <a:ext uri="{FF2B5EF4-FFF2-40B4-BE49-F238E27FC236}">
                <a16:creationId xmlns:a16="http://schemas.microsoft.com/office/drawing/2014/main" id="{60F5AC1D-9ED9-4A97-897C-CDBFEC3C34ED}"/>
              </a:ext>
            </a:extLst>
          </p:cNvPr>
          <p:cNvSpPr>
            <a:spLocks xmlns:a="http://schemas.openxmlformats.org/drawingml/2006/main" noGrp="1"/>
          </p:cNvSpPr>
          <p:nvPr/>
        </p:nvSpPr>
        <p:spPr>
          <a:xfrm xmlns:a="http://schemas.openxmlformats.org/drawingml/2006/main">
            <a:off x="762000" y="21431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4756F"/>
                </a:solidFill>
              </a:defRPr>
            </a:defPPr>
            <a:lvl1pPr>
              <a:defRPr sz="2175" b="0">
                <a:solidFill>
                  <a:srgbClr val="44756F"/>
                </a:solidFill>
              </a:defRPr>
            </a:lvl1pPr>
            <a:lvl2pPr>
              <a:defRPr sz="2175" b="0">
                <a:solidFill>
                  <a:srgbClr val="44756F"/>
                </a:solidFill>
              </a:defRPr>
            </a:lvl2pPr>
            <a:lvl3pPr>
              <a:defRPr sz="2175" b="0">
                <a:solidFill>
                  <a:srgbClr val="44756F"/>
                </a:solidFill>
              </a:defRPr>
            </a:lvl3pPr>
            <a:lvl4pPr>
              <a:defRPr sz="2175" b="0">
                <a:solidFill>
                  <a:srgbClr val="44756F"/>
                </a:solidFill>
              </a:defRPr>
            </a:lvl4pPr>
            <a:lvl5pPr>
              <a:defRPr sz="2175" b="0">
                <a:solidFill>
                  <a:srgbClr val="44756F"/>
                </a:solidFill>
              </a:defRPr>
            </a:lvl5pPr>
            <a:lvl6pPr>
              <a:defRPr sz="2175" b="0">
                <a:solidFill>
                  <a:srgbClr val="44756F"/>
                </a:solidFill>
              </a:defRPr>
            </a:lvl6pPr>
            <a:lvl7pPr>
              <a:defRPr sz="2175" b="0">
                <a:solidFill>
                  <a:srgbClr val="44756F"/>
                </a:solidFill>
              </a:defRPr>
            </a:lvl7pPr>
            <a:lvl8pPr>
              <a:defRPr sz="2175" b="0">
                <a:solidFill>
                  <a:srgbClr val="44756F"/>
                </a:solidFill>
              </a:defRPr>
            </a:lvl8pPr>
            <a:lvl9pPr>
              <a:defRPr sz="2175" b="0">
                <a:solidFill>
                  <a:srgbClr val="44756F"/>
                </a:solidFill>
              </a:defRPr>
            </a:lvl9pPr>
          </a:lstStyle>
          <a:p xmlns:a="http://schemas.openxmlformats.org/drawingml/2006/main">
            <a:pPr>
              <a:defRPr sz="2175" b="0">
                <a:solidFill>
                  <a:srgbClr val="44756F"/>
                </a:solidFill>
              </a:defRPr>
            </a:pPr>
            <a:r>
              <a:rPr sz="2175" b="0">
                <a:solidFill>
                  <a:srgbClr val="44756F"/>
                </a:solidFill>
              </a:rPr>
              <a:t>DataManager reads and writes JSON files</a:t>
            </a:r>
          </a:p>
        </p:txBody>
      </p:sp>
      <p:sp>
        <p:nvSpPr>
          <p:cNvPr id="4" name="">
            <a:extLst xmlns:a="http://schemas.openxmlformats.org/drawingml/2006/main">
              <a:ext uri="{FF2B5EF4-FFF2-40B4-BE49-F238E27FC236}">
                <a16:creationId xmlns:a16="http://schemas.microsoft.com/office/drawing/2014/main" id="{96D15078-D8DE-4656-9A2B-64C9EA83D36E}"/>
              </a:ext>
            </a:extLst>
          </p:cNvPr>
          <p:cNvSpPr>
            <a:spLocks xmlns:a="http://schemas.openxmlformats.org/drawingml/2006/main" noGrp="1"/>
          </p:cNvSpPr>
          <p:nvPr/>
        </p:nvSpPr>
        <p:spPr>
          <a:xfrm xmlns:a="http://schemas.openxmlformats.org/drawingml/2006/main">
            <a:off x="762000" y="3143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Gson converts Java objects to JSON</a:t>
            </a:r>
          </a:p>
        </p:txBody>
      </p:sp>
      <p:sp>
        <p:nvSpPr>
          <p:cNvPr id="5" name="">
            <a:extLst xmlns:a="http://schemas.openxmlformats.org/drawingml/2006/main">
              <a:ext uri="{FF2B5EF4-FFF2-40B4-BE49-F238E27FC236}">
                <a16:creationId xmlns:a16="http://schemas.microsoft.com/office/drawing/2014/main" id="{9FA4FB41-105C-49F6-9625-2F2C3B5E66B3}"/>
              </a:ext>
            </a:extLst>
          </p:cNvPr>
          <p:cNvSpPr>
            <a:spLocks xmlns:a="http://schemas.openxmlformats.org/drawingml/2006/main" noGrp="1"/>
          </p:cNvSpPr>
          <p:nvPr/>
        </p:nvSpPr>
        <p:spPr>
          <a:xfrm xmlns:a="http://schemas.openxmlformats.org/drawingml/2006/main">
            <a:off x="762000" y="3695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The system loads data when it starts</a:t>
            </a:r>
          </a:p>
        </p:txBody>
      </p:sp>
      <p:sp>
        <p:nvSpPr>
          <p:cNvPr id="6" name="">
            <a:extLst xmlns:a="http://schemas.openxmlformats.org/drawingml/2006/main">
              <a:ext uri="{FF2B5EF4-FFF2-40B4-BE49-F238E27FC236}">
                <a16:creationId xmlns:a16="http://schemas.microsoft.com/office/drawing/2014/main" id="{87B63D4A-0F2F-478E-A972-E04B0E611F32}"/>
              </a:ext>
            </a:extLst>
          </p:cNvPr>
          <p:cNvSpPr>
            <a:spLocks xmlns:a="http://schemas.openxmlformats.org/drawingml/2006/main" noGrp="1"/>
          </p:cNvSpPr>
          <p:nvPr/>
        </p:nvSpPr>
        <p:spPr>
          <a:xfrm xmlns:a="http://schemas.openxmlformats.org/drawingml/2006/main">
            <a:off x="762000" y="42481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It saves data during normal shutdown</a:t>
            </a:r>
          </a:p>
        </p:txBody>
      </p:sp>
      <p:sp>
        <p:nvSpPr>
          <p:cNvPr id="7" name="">
            <a:extLst xmlns:a="http://schemas.openxmlformats.org/drawingml/2006/main">
              <a:ext uri="{FF2B5EF4-FFF2-40B4-BE49-F238E27FC236}">
                <a16:creationId xmlns:a16="http://schemas.microsoft.com/office/drawing/2014/main" id="{9D392FEC-2947-487D-BFA0-69F32A9B63E5}"/>
              </a:ext>
            </a:extLst>
          </p:cNvPr>
          <p:cNvSpPr>
            <a:spLocks xmlns:a="http://schemas.openxmlformats.org/drawingml/2006/main" noGrp="1"/>
          </p:cNvSpPr>
          <p:nvPr/>
        </p:nvSpPr>
        <p:spPr>
          <a:xfrm xmlns:a="http://schemas.openxmlformats.org/drawingml/2006/main">
            <a:off x="762000" y="48006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JSON files keep data between sessions</a:t>
            </a:r>
          </a:p>
        </p:txBody>
      </p:sp>
    </p:spTree>
    <p:extLst>
      <p:ext uri="{BB962C8B-B14F-4D97-AF65-F5344CB8AC3E}">
        <p14:creationId xmlns:p14="http://schemas.microsoft.com/office/powerpoint/2010/main" val="994002474"/>
      </p:ext>
    </p:extLst>
  </p:cSld>
</p:sld>
</file>

<file path=ppt/slides/slide8.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69DAD9-0CD7-4D29-88BD-B48284C5AA38}"/>
              </a:ext>
            </a:extLst>
          </p:cNvPr>
          <p:cNvSpPr>
            <a:spLocks xmlns:a="http://schemas.openxmlformats.org/drawingml/2006/main" noGrp="1"/>
          </p:cNvSpPr>
          <p:nvPr/>
        </p:nvSpPr>
        <p:spPr>
          <a:xfrm xmlns:a="http://schemas.openxmlformats.org/drawingml/2006/main">
            <a:off x="723900" y="523875"/>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4756F"/>
                </a:solidFill>
              </a:defRPr>
            </a:defPPr>
            <a:lvl1pPr>
              <a:defRPr sz="1650" b="0">
                <a:solidFill>
                  <a:srgbClr val="44756F"/>
                </a:solidFill>
              </a:defRPr>
            </a:lvl1pPr>
            <a:lvl2pPr>
              <a:defRPr sz="1650" b="0">
                <a:solidFill>
                  <a:srgbClr val="44756F"/>
                </a:solidFill>
              </a:defRPr>
            </a:lvl2pPr>
            <a:lvl3pPr>
              <a:defRPr sz="1650" b="0">
                <a:solidFill>
                  <a:srgbClr val="44756F"/>
                </a:solidFill>
              </a:defRPr>
            </a:lvl3pPr>
            <a:lvl4pPr>
              <a:defRPr sz="1650" b="0">
                <a:solidFill>
                  <a:srgbClr val="44756F"/>
                </a:solidFill>
              </a:defRPr>
            </a:lvl4pPr>
            <a:lvl5pPr>
              <a:defRPr sz="1650" b="0">
                <a:solidFill>
                  <a:srgbClr val="44756F"/>
                </a:solidFill>
              </a:defRPr>
            </a:lvl5pPr>
            <a:lvl6pPr>
              <a:defRPr sz="1650" b="0">
                <a:solidFill>
                  <a:srgbClr val="44756F"/>
                </a:solidFill>
              </a:defRPr>
            </a:lvl6pPr>
            <a:lvl7pPr>
              <a:defRPr sz="1650" b="0">
                <a:solidFill>
                  <a:srgbClr val="44756F"/>
                </a:solidFill>
              </a:defRPr>
            </a:lvl7pPr>
            <a:lvl8pPr>
              <a:defRPr sz="1650" b="0">
                <a:solidFill>
                  <a:srgbClr val="44756F"/>
                </a:solidFill>
              </a:defRPr>
            </a:lvl8pPr>
            <a:lvl9pPr>
              <a:defRPr sz="1650" b="0">
                <a:solidFill>
                  <a:srgbClr val="44756F"/>
                </a:solidFill>
              </a:defRPr>
            </a:lvl9pPr>
          </a:lstStyle>
          <a:p xmlns:a="http://schemas.openxmlformats.org/drawingml/2006/main">
            <a:pPr>
              <a:defRPr sz="1650" b="0">
                <a:solidFill>
                  <a:srgbClr val="44756F"/>
                </a:solidFill>
              </a:defRPr>
            </a:pPr>
            <a:r>
              <a:rPr sz="1650" b="0">
                <a:solidFill>
                  <a:srgbClr val="44756F"/>
                </a:solidFill>
              </a:rPr>
              <a:t>08</a:t>
            </a:r>
          </a:p>
        </p:txBody>
      </p:sp>
      <p:sp>
        <p:nvSpPr>
          <p:cNvPr id="2" name="">
            <a:extLst xmlns:a="http://schemas.openxmlformats.org/drawingml/2006/main">
              <a:ext uri="{FF2B5EF4-FFF2-40B4-BE49-F238E27FC236}">
                <a16:creationId xmlns:a16="http://schemas.microsoft.com/office/drawing/2014/main" id="{CE99437A-4D54-4699-A77E-8F1FE0FBD68D}"/>
              </a:ext>
            </a:extLst>
          </p:cNvPr>
          <p:cNvSpPr>
            <a:spLocks xmlns:a="http://schemas.openxmlformats.org/drawingml/2006/main" noGrp="1"/>
          </p:cNvSpPr>
          <p:nvPr/>
        </p:nvSpPr>
        <p:spPr>
          <a:xfrm xmlns:a="http://schemas.openxmlformats.org/drawingml/2006/main">
            <a:off x="723900" y="10668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2C3B"/>
                </a:solidFill>
              </a:defRPr>
            </a:defPPr>
            <a:lvl1pPr>
              <a:defRPr sz="3900" b="1">
                <a:solidFill>
                  <a:srgbClr val="132C3B"/>
                </a:solidFill>
              </a:defRPr>
            </a:lvl1pPr>
            <a:lvl2pPr>
              <a:defRPr sz="3900" b="1">
                <a:solidFill>
                  <a:srgbClr val="132C3B"/>
                </a:solidFill>
              </a:defRPr>
            </a:lvl2pPr>
            <a:lvl3pPr>
              <a:defRPr sz="3900" b="1">
                <a:solidFill>
                  <a:srgbClr val="132C3B"/>
                </a:solidFill>
              </a:defRPr>
            </a:lvl3pPr>
            <a:lvl4pPr>
              <a:defRPr sz="3900" b="1">
                <a:solidFill>
                  <a:srgbClr val="132C3B"/>
                </a:solidFill>
              </a:defRPr>
            </a:lvl4pPr>
            <a:lvl5pPr>
              <a:defRPr sz="3900" b="1">
                <a:solidFill>
                  <a:srgbClr val="132C3B"/>
                </a:solidFill>
              </a:defRPr>
            </a:lvl5pPr>
            <a:lvl6pPr>
              <a:defRPr sz="3900" b="1">
                <a:solidFill>
                  <a:srgbClr val="132C3B"/>
                </a:solidFill>
              </a:defRPr>
            </a:lvl6pPr>
            <a:lvl7pPr>
              <a:defRPr sz="3900" b="1">
                <a:solidFill>
                  <a:srgbClr val="132C3B"/>
                </a:solidFill>
              </a:defRPr>
            </a:lvl7pPr>
            <a:lvl8pPr>
              <a:defRPr sz="3900" b="1">
                <a:solidFill>
                  <a:srgbClr val="132C3B"/>
                </a:solidFill>
              </a:defRPr>
            </a:lvl8pPr>
            <a:lvl9pPr>
              <a:defRPr sz="3900" b="1">
                <a:solidFill>
                  <a:srgbClr val="132C3B"/>
                </a:solidFill>
              </a:defRPr>
            </a:lvl9pPr>
          </a:lstStyle>
          <a:p xmlns:a="http://schemas.openxmlformats.org/drawingml/2006/main">
            <a:pPr>
              <a:defRPr sz="3900" b="1">
                <a:solidFill>
                  <a:srgbClr val="132C3B"/>
                </a:solidFill>
              </a:defRPr>
            </a:pPr>
            <a:r>
              <a:rPr sz="3900" b="1">
                <a:solidFill>
                  <a:srgbClr val="132C3B"/>
                </a:solidFill>
              </a:rPr>
              <a:t>Payments and cash</a:t>
            </a:r>
          </a:p>
        </p:txBody>
      </p:sp>
      <p:sp>
        <p:nvSpPr>
          <p:cNvPr id="3" name="">
            <a:extLst xmlns:a="http://schemas.openxmlformats.org/drawingml/2006/main">
              <a:ext uri="{FF2B5EF4-FFF2-40B4-BE49-F238E27FC236}">
                <a16:creationId xmlns:a16="http://schemas.microsoft.com/office/drawing/2014/main" id="{440374A5-1AD4-4AD7-A704-8CC4C5278EA8}"/>
              </a:ext>
            </a:extLst>
          </p:cNvPr>
          <p:cNvSpPr>
            <a:spLocks xmlns:a="http://schemas.openxmlformats.org/drawingml/2006/main" noGrp="1"/>
          </p:cNvSpPr>
          <p:nvPr/>
        </p:nvSpPr>
        <p:spPr>
          <a:xfrm xmlns:a="http://schemas.openxmlformats.org/drawingml/2006/main">
            <a:off x="762000" y="21431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4756F"/>
                </a:solidFill>
              </a:defRPr>
            </a:defPPr>
            <a:lvl1pPr>
              <a:defRPr sz="2175" b="0">
                <a:solidFill>
                  <a:srgbClr val="44756F"/>
                </a:solidFill>
              </a:defRPr>
            </a:lvl1pPr>
            <a:lvl2pPr>
              <a:defRPr sz="2175" b="0">
                <a:solidFill>
                  <a:srgbClr val="44756F"/>
                </a:solidFill>
              </a:defRPr>
            </a:lvl2pPr>
            <a:lvl3pPr>
              <a:defRPr sz="2175" b="0">
                <a:solidFill>
                  <a:srgbClr val="44756F"/>
                </a:solidFill>
              </a:defRPr>
            </a:lvl3pPr>
            <a:lvl4pPr>
              <a:defRPr sz="2175" b="0">
                <a:solidFill>
                  <a:srgbClr val="44756F"/>
                </a:solidFill>
              </a:defRPr>
            </a:lvl4pPr>
            <a:lvl5pPr>
              <a:defRPr sz="2175" b="0">
                <a:solidFill>
                  <a:srgbClr val="44756F"/>
                </a:solidFill>
              </a:defRPr>
            </a:lvl5pPr>
            <a:lvl6pPr>
              <a:defRPr sz="2175" b="0">
                <a:solidFill>
                  <a:srgbClr val="44756F"/>
                </a:solidFill>
              </a:defRPr>
            </a:lvl6pPr>
            <a:lvl7pPr>
              <a:defRPr sz="2175" b="0">
                <a:solidFill>
                  <a:srgbClr val="44756F"/>
                </a:solidFill>
              </a:defRPr>
            </a:lvl7pPr>
            <a:lvl8pPr>
              <a:defRPr sz="2175" b="0">
                <a:solidFill>
                  <a:srgbClr val="44756F"/>
                </a:solidFill>
              </a:defRPr>
            </a:lvl8pPr>
            <a:lvl9pPr>
              <a:defRPr sz="2175" b="0">
                <a:solidFill>
                  <a:srgbClr val="44756F"/>
                </a:solidFill>
              </a:defRPr>
            </a:lvl9pPr>
          </a:lstStyle>
          <a:p xmlns:a="http://schemas.openxmlformats.org/drawingml/2006/main">
            <a:pPr>
              <a:defRPr sz="2175" b="0">
                <a:solidFill>
                  <a:srgbClr val="44756F"/>
                </a:solidFill>
              </a:defRPr>
            </a:pPr>
            <a:r>
              <a:rPr sz="2175" b="0">
                <a:solidFill>
                  <a:srgbClr val="44756F"/>
                </a:solidFill>
              </a:rPr>
              <a:t>Example data for the demonstration</a:t>
            </a:r>
          </a:p>
        </p:txBody>
      </p:sp>
      <p:sp>
        <p:nvSpPr>
          <p:cNvPr id="4" name="">
            <a:extLst xmlns:a="http://schemas.openxmlformats.org/drawingml/2006/main">
              <a:ext uri="{FF2B5EF4-FFF2-40B4-BE49-F238E27FC236}">
                <a16:creationId xmlns:a16="http://schemas.microsoft.com/office/drawing/2014/main" id="{5388D393-A892-49C6-9155-072863239ACA}"/>
              </a:ext>
            </a:extLst>
          </p:cNvPr>
          <p:cNvSpPr>
            <a:spLocks xmlns:a="http://schemas.openxmlformats.org/drawingml/2006/main" noGrp="1"/>
          </p:cNvSpPr>
          <p:nvPr/>
        </p:nvSpPr>
        <p:spPr>
          <a:xfrm xmlns:a="http://schemas.openxmlformats.org/drawingml/2006/main">
            <a:off x="762000" y="3143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Order total: $35</a:t>
            </a:r>
          </a:p>
        </p:txBody>
      </p:sp>
      <p:sp>
        <p:nvSpPr>
          <p:cNvPr id="5" name="">
            <a:extLst xmlns:a="http://schemas.openxmlformats.org/drawingml/2006/main">
              <a:ext uri="{FF2B5EF4-FFF2-40B4-BE49-F238E27FC236}">
                <a16:creationId xmlns:a16="http://schemas.microsoft.com/office/drawing/2014/main" id="{117E54E6-B472-423D-A0C0-6D103EF5DBA3}"/>
              </a:ext>
            </a:extLst>
          </p:cNvPr>
          <p:cNvSpPr>
            <a:spLocks xmlns:a="http://schemas.openxmlformats.org/drawingml/2006/main" noGrp="1"/>
          </p:cNvSpPr>
          <p:nvPr/>
        </p:nvSpPr>
        <p:spPr>
          <a:xfrm xmlns:a="http://schemas.openxmlformats.org/drawingml/2006/main">
            <a:off x="762000" y="3695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Customer payment: $10</a:t>
            </a:r>
          </a:p>
        </p:txBody>
      </p:sp>
      <p:sp>
        <p:nvSpPr>
          <p:cNvPr id="6" name="">
            <a:extLst xmlns:a="http://schemas.openxmlformats.org/drawingml/2006/main">
              <a:ext uri="{FF2B5EF4-FFF2-40B4-BE49-F238E27FC236}">
                <a16:creationId xmlns:a16="http://schemas.microsoft.com/office/drawing/2014/main" id="{68F7F3C4-F147-4041-97EE-8A325E685215}"/>
              </a:ext>
            </a:extLst>
          </p:cNvPr>
          <p:cNvSpPr>
            <a:spLocks xmlns:a="http://schemas.openxmlformats.org/drawingml/2006/main" noGrp="1"/>
          </p:cNvSpPr>
          <p:nvPr/>
        </p:nvSpPr>
        <p:spPr>
          <a:xfrm xmlns:a="http://schemas.openxmlformats.org/drawingml/2006/main">
            <a:off x="762000" y="42481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Remaining balance: $25</a:t>
            </a:r>
          </a:p>
        </p:txBody>
      </p:sp>
      <p:sp>
        <p:nvSpPr>
          <p:cNvPr id="7" name="">
            <a:extLst xmlns:a="http://schemas.openxmlformats.org/drawingml/2006/main">
              <a:ext uri="{FF2B5EF4-FFF2-40B4-BE49-F238E27FC236}">
                <a16:creationId xmlns:a16="http://schemas.microsoft.com/office/drawing/2014/main" id="{B9B0E543-C291-487F-A4CF-DF17AD3E2ABF}"/>
              </a:ext>
            </a:extLst>
          </p:cNvPr>
          <p:cNvSpPr>
            <a:spLocks xmlns:a="http://schemas.openxmlformats.org/drawingml/2006/main" noGrp="1"/>
          </p:cNvSpPr>
          <p:nvPr/>
        </p:nvSpPr>
        <p:spPr>
          <a:xfrm xmlns:a="http://schemas.openxmlformats.org/drawingml/2006/main">
            <a:off x="762000" y="48006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Cash: $100 + $10 - $12 = $98</a:t>
            </a:r>
          </a:p>
        </p:txBody>
      </p:sp>
    </p:spTree>
    <p:extLst>
      <p:ext uri="{BB962C8B-B14F-4D97-AF65-F5344CB8AC3E}">
        <p14:creationId xmlns:p14="http://schemas.microsoft.com/office/powerpoint/2010/main" val="1366101899"/>
      </p:ext>
    </p:extLst>
  </p:cSld>
</p:sld>
</file>

<file path=ppt/slides/slide9.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FF8423-04C3-45D2-B5A7-CA1E92391950}"/>
              </a:ext>
            </a:extLst>
          </p:cNvPr>
          <p:cNvSpPr>
            <a:spLocks xmlns:a="http://schemas.openxmlformats.org/drawingml/2006/main" noGrp="1"/>
          </p:cNvSpPr>
          <p:nvPr/>
        </p:nvSpPr>
        <p:spPr>
          <a:xfrm xmlns:a="http://schemas.openxmlformats.org/drawingml/2006/main">
            <a:off x="723900" y="523875"/>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4756F"/>
                </a:solidFill>
              </a:defRPr>
            </a:defPPr>
            <a:lvl1pPr>
              <a:defRPr sz="1650" b="0">
                <a:solidFill>
                  <a:srgbClr val="44756F"/>
                </a:solidFill>
              </a:defRPr>
            </a:lvl1pPr>
            <a:lvl2pPr>
              <a:defRPr sz="1650" b="0">
                <a:solidFill>
                  <a:srgbClr val="44756F"/>
                </a:solidFill>
              </a:defRPr>
            </a:lvl2pPr>
            <a:lvl3pPr>
              <a:defRPr sz="1650" b="0">
                <a:solidFill>
                  <a:srgbClr val="44756F"/>
                </a:solidFill>
              </a:defRPr>
            </a:lvl3pPr>
            <a:lvl4pPr>
              <a:defRPr sz="1650" b="0">
                <a:solidFill>
                  <a:srgbClr val="44756F"/>
                </a:solidFill>
              </a:defRPr>
            </a:lvl4pPr>
            <a:lvl5pPr>
              <a:defRPr sz="1650" b="0">
                <a:solidFill>
                  <a:srgbClr val="44756F"/>
                </a:solidFill>
              </a:defRPr>
            </a:lvl5pPr>
            <a:lvl6pPr>
              <a:defRPr sz="1650" b="0">
                <a:solidFill>
                  <a:srgbClr val="44756F"/>
                </a:solidFill>
              </a:defRPr>
            </a:lvl6pPr>
            <a:lvl7pPr>
              <a:defRPr sz="1650" b="0">
                <a:solidFill>
                  <a:srgbClr val="44756F"/>
                </a:solidFill>
              </a:defRPr>
            </a:lvl7pPr>
            <a:lvl8pPr>
              <a:defRPr sz="1650" b="0">
                <a:solidFill>
                  <a:srgbClr val="44756F"/>
                </a:solidFill>
              </a:defRPr>
            </a:lvl8pPr>
            <a:lvl9pPr>
              <a:defRPr sz="1650" b="0">
                <a:solidFill>
                  <a:srgbClr val="44756F"/>
                </a:solidFill>
              </a:defRPr>
            </a:lvl9pPr>
          </a:lstStyle>
          <a:p xmlns:a="http://schemas.openxmlformats.org/drawingml/2006/main">
            <a:pPr>
              <a:defRPr sz="1650" b="0">
                <a:solidFill>
                  <a:srgbClr val="44756F"/>
                </a:solidFill>
              </a:defRPr>
            </a:pPr>
            <a:r>
              <a:rPr sz="1650" b="0">
                <a:solidFill>
                  <a:srgbClr val="44756F"/>
                </a:solidFill>
              </a:rPr>
              <a:t>09</a:t>
            </a:r>
          </a:p>
        </p:txBody>
      </p:sp>
      <p:sp>
        <p:nvSpPr>
          <p:cNvPr id="2" name="">
            <a:extLst xmlns:a="http://schemas.openxmlformats.org/drawingml/2006/main">
              <a:ext uri="{FF2B5EF4-FFF2-40B4-BE49-F238E27FC236}">
                <a16:creationId xmlns:a16="http://schemas.microsoft.com/office/drawing/2014/main" id="{24A7C0DB-B36D-40FE-AA5F-8FF41D160239}"/>
              </a:ext>
            </a:extLst>
          </p:cNvPr>
          <p:cNvSpPr>
            <a:spLocks xmlns:a="http://schemas.openxmlformats.org/drawingml/2006/main" noGrp="1"/>
          </p:cNvSpPr>
          <p:nvPr/>
        </p:nvSpPr>
        <p:spPr>
          <a:xfrm xmlns:a="http://schemas.openxmlformats.org/drawingml/2006/main">
            <a:off x="723900" y="10668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2C3B"/>
                </a:solidFill>
              </a:defRPr>
            </a:defPPr>
            <a:lvl1pPr>
              <a:defRPr sz="3900" b="1">
                <a:solidFill>
                  <a:srgbClr val="132C3B"/>
                </a:solidFill>
              </a:defRPr>
            </a:lvl1pPr>
            <a:lvl2pPr>
              <a:defRPr sz="3900" b="1">
                <a:solidFill>
                  <a:srgbClr val="132C3B"/>
                </a:solidFill>
              </a:defRPr>
            </a:lvl2pPr>
            <a:lvl3pPr>
              <a:defRPr sz="3900" b="1">
                <a:solidFill>
                  <a:srgbClr val="132C3B"/>
                </a:solidFill>
              </a:defRPr>
            </a:lvl3pPr>
            <a:lvl4pPr>
              <a:defRPr sz="3900" b="1">
                <a:solidFill>
                  <a:srgbClr val="132C3B"/>
                </a:solidFill>
              </a:defRPr>
            </a:lvl4pPr>
            <a:lvl5pPr>
              <a:defRPr sz="3900" b="1">
                <a:solidFill>
                  <a:srgbClr val="132C3B"/>
                </a:solidFill>
              </a:defRPr>
            </a:lvl5pPr>
            <a:lvl6pPr>
              <a:defRPr sz="3900" b="1">
                <a:solidFill>
                  <a:srgbClr val="132C3B"/>
                </a:solidFill>
              </a:defRPr>
            </a:lvl6pPr>
            <a:lvl7pPr>
              <a:defRPr sz="3900" b="1">
                <a:solidFill>
                  <a:srgbClr val="132C3B"/>
                </a:solidFill>
              </a:defRPr>
            </a:lvl7pPr>
            <a:lvl8pPr>
              <a:defRPr sz="3900" b="1">
                <a:solidFill>
                  <a:srgbClr val="132C3B"/>
                </a:solidFill>
              </a:defRPr>
            </a:lvl8pPr>
            <a:lvl9pPr>
              <a:defRPr sz="3900" b="1">
                <a:solidFill>
                  <a:srgbClr val="132C3B"/>
                </a:solidFill>
              </a:defRPr>
            </a:lvl9pPr>
          </a:lstStyle>
          <a:p xmlns:a="http://schemas.openxmlformats.org/drawingml/2006/main">
            <a:pPr>
              <a:defRPr sz="3900" b="1">
                <a:solidFill>
                  <a:srgbClr val="132C3B"/>
                </a:solidFill>
              </a:defRPr>
            </a:pPr>
            <a:r>
              <a:rPr sz="3900" b="1">
                <a:solidFill>
                  <a:srgbClr val="132C3B"/>
                </a:solidFill>
              </a:rPr>
              <a:t>Validation and reports</a:t>
            </a:r>
          </a:p>
        </p:txBody>
      </p:sp>
      <p:sp>
        <p:nvSpPr>
          <p:cNvPr id="3" name="">
            <a:extLst xmlns:a="http://schemas.openxmlformats.org/drawingml/2006/main">
              <a:ext uri="{FF2B5EF4-FFF2-40B4-BE49-F238E27FC236}">
                <a16:creationId xmlns:a16="http://schemas.microsoft.com/office/drawing/2014/main" id="{1A5E3B2B-D5AD-424C-BDBE-C143434E68C5}"/>
              </a:ext>
            </a:extLst>
          </p:cNvPr>
          <p:cNvSpPr>
            <a:spLocks xmlns:a="http://schemas.openxmlformats.org/drawingml/2006/main" noGrp="1"/>
          </p:cNvSpPr>
          <p:nvPr/>
        </p:nvSpPr>
        <p:spPr>
          <a:xfrm xmlns:a="http://schemas.openxmlformats.org/drawingml/2006/main">
            <a:off x="762000" y="21431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4756F"/>
                </a:solidFill>
              </a:defRPr>
            </a:defPPr>
            <a:lvl1pPr>
              <a:defRPr sz="2175" b="0">
                <a:solidFill>
                  <a:srgbClr val="44756F"/>
                </a:solidFill>
              </a:defRPr>
            </a:lvl1pPr>
            <a:lvl2pPr>
              <a:defRPr sz="2175" b="0">
                <a:solidFill>
                  <a:srgbClr val="44756F"/>
                </a:solidFill>
              </a:defRPr>
            </a:lvl2pPr>
            <a:lvl3pPr>
              <a:defRPr sz="2175" b="0">
                <a:solidFill>
                  <a:srgbClr val="44756F"/>
                </a:solidFill>
              </a:defRPr>
            </a:lvl3pPr>
            <a:lvl4pPr>
              <a:defRPr sz="2175" b="0">
                <a:solidFill>
                  <a:srgbClr val="44756F"/>
                </a:solidFill>
              </a:defRPr>
            </a:lvl4pPr>
            <a:lvl5pPr>
              <a:defRPr sz="2175" b="0">
                <a:solidFill>
                  <a:srgbClr val="44756F"/>
                </a:solidFill>
              </a:defRPr>
            </a:lvl5pPr>
            <a:lvl6pPr>
              <a:defRPr sz="2175" b="0">
                <a:solidFill>
                  <a:srgbClr val="44756F"/>
                </a:solidFill>
              </a:defRPr>
            </a:lvl6pPr>
            <a:lvl7pPr>
              <a:defRPr sz="2175" b="0">
                <a:solidFill>
                  <a:srgbClr val="44756F"/>
                </a:solidFill>
              </a:defRPr>
            </a:lvl7pPr>
            <a:lvl8pPr>
              <a:defRPr sz="2175" b="0">
                <a:solidFill>
                  <a:srgbClr val="44756F"/>
                </a:solidFill>
              </a:defRPr>
            </a:lvl8pPr>
            <a:lvl9pPr>
              <a:defRPr sz="2175" b="0">
                <a:solidFill>
                  <a:srgbClr val="44756F"/>
                </a:solidFill>
              </a:defRPr>
            </a:lvl9pPr>
          </a:lstStyle>
          <a:p xmlns:a="http://schemas.openxmlformats.org/drawingml/2006/main">
            <a:pPr>
              <a:defRPr sz="2175" b="0">
                <a:solidFill>
                  <a:srgbClr val="44756F"/>
                </a:solidFill>
              </a:defRPr>
            </a:pPr>
            <a:r>
              <a:rPr sz="2175" b="0">
                <a:solidFill>
                  <a:srgbClr val="44756F"/>
                </a:solidFill>
              </a:rPr>
              <a:t>The system checks input and exports results</a:t>
            </a:r>
          </a:p>
        </p:txBody>
      </p:sp>
      <p:sp>
        <p:nvSpPr>
          <p:cNvPr id="4" name="">
            <a:extLst xmlns:a="http://schemas.openxmlformats.org/drawingml/2006/main">
              <a:ext uri="{FF2B5EF4-FFF2-40B4-BE49-F238E27FC236}">
                <a16:creationId xmlns:a16="http://schemas.microsoft.com/office/drawing/2014/main" id="{A6C09608-524A-464D-A3C5-82C0C7E41D91}"/>
              </a:ext>
            </a:extLst>
          </p:cNvPr>
          <p:cNvSpPr>
            <a:spLocks xmlns:a="http://schemas.openxmlformats.org/drawingml/2006/main" noGrp="1"/>
          </p:cNvSpPr>
          <p:nvPr/>
        </p:nvSpPr>
        <p:spPr>
          <a:xfrm xmlns:a="http://schemas.openxmlformats.org/drawingml/2006/main">
            <a:off x="762000" y="3143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Required fields cannot be empty</a:t>
            </a:r>
          </a:p>
        </p:txBody>
      </p:sp>
      <p:sp>
        <p:nvSpPr>
          <p:cNvPr id="5" name="">
            <a:extLst xmlns:a="http://schemas.openxmlformats.org/drawingml/2006/main">
              <a:ext uri="{FF2B5EF4-FFF2-40B4-BE49-F238E27FC236}">
                <a16:creationId xmlns:a16="http://schemas.microsoft.com/office/drawing/2014/main" id="{C2D13FFA-D833-4D7B-A6E2-056A4ADCE607}"/>
              </a:ext>
            </a:extLst>
          </p:cNvPr>
          <p:cNvSpPr>
            <a:spLocks xmlns:a="http://schemas.openxmlformats.org/drawingml/2006/main" noGrp="1"/>
          </p:cNvSpPr>
          <p:nvPr/>
        </p:nvSpPr>
        <p:spPr>
          <a:xfrm xmlns:a="http://schemas.openxmlformats.org/drawingml/2006/main">
            <a:off x="762000" y="3695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Amounts must follow validation rules</a:t>
            </a:r>
          </a:p>
        </p:txBody>
      </p:sp>
      <p:sp>
        <p:nvSpPr>
          <p:cNvPr id="6" name="">
            <a:extLst xmlns:a="http://schemas.openxmlformats.org/drawingml/2006/main">
              <a:ext uri="{FF2B5EF4-FFF2-40B4-BE49-F238E27FC236}">
                <a16:creationId xmlns:a16="http://schemas.microsoft.com/office/drawing/2014/main" id="{5194307B-09AA-4A0E-98D1-3C0284C883B4}"/>
              </a:ext>
            </a:extLst>
          </p:cNvPr>
          <p:cNvSpPr>
            <a:spLocks xmlns:a="http://schemas.openxmlformats.org/drawingml/2006/main" noGrp="1"/>
          </p:cNvSpPr>
          <p:nvPr/>
        </p:nvSpPr>
        <p:spPr>
          <a:xfrm xmlns:a="http://schemas.openxmlformats.org/drawingml/2006/main">
            <a:off x="762000" y="42481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Login checks the selected role</a:t>
            </a:r>
          </a:p>
        </p:txBody>
      </p:sp>
      <p:sp>
        <p:nvSpPr>
          <p:cNvPr id="7" name="">
            <a:extLst xmlns:a="http://schemas.openxmlformats.org/drawingml/2006/main">
              <a:ext uri="{FF2B5EF4-FFF2-40B4-BE49-F238E27FC236}">
                <a16:creationId xmlns:a16="http://schemas.microsoft.com/office/drawing/2014/main" id="{F860209B-ABEF-49DD-9580-A4751AD3E490}"/>
              </a:ext>
            </a:extLst>
          </p:cNvPr>
          <p:cNvSpPr>
            <a:spLocks xmlns:a="http://schemas.openxmlformats.org/drawingml/2006/main" noGrp="1"/>
          </p:cNvSpPr>
          <p:nvPr/>
        </p:nvSpPr>
        <p:spPr>
          <a:xfrm xmlns:a="http://schemas.openxmlformats.org/drawingml/2006/main">
            <a:off x="762000" y="48006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CSV reports show orders and cash movements</a:t>
            </a:r>
          </a:p>
        </p:txBody>
      </p:sp>
    </p:spTree>
    <p:extLst>
      <p:ext uri="{BB962C8B-B14F-4D97-AF65-F5344CB8AC3E}">
        <p14:creationId xmlns:p14="http://schemas.microsoft.com/office/powerpoint/2010/main" val="1050033321"/>
      </p:ext>
    </p:extLst>
  </p:cSld>
</p:sld>
</file>

<file path=ppt/slides/slide10.xml><?xml version="1.0" encoding="utf-8"?>
<p:sld xmlns:p="http://schemas.openxmlformats.org/presentationml/2006/main">
  <p:cSld>
    <p:bg>
      <p:bgPr>
        <a:solidFill xmlns:a="http://schemas.openxmlformats.org/drawingml/2006/main">
          <a:srgbClr val="F6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E90962-9E7F-49F3-8A5D-5B04E66AAF5F}"/>
              </a:ext>
            </a:extLst>
          </p:cNvPr>
          <p:cNvSpPr>
            <a:spLocks xmlns:a="http://schemas.openxmlformats.org/drawingml/2006/main" noGrp="1"/>
          </p:cNvSpPr>
          <p:nvPr/>
        </p:nvSpPr>
        <p:spPr>
          <a:xfrm xmlns:a="http://schemas.openxmlformats.org/drawingml/2006/main">
            <a:off x="723900" y="523875"/>
            <a:ext cx="123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4756F"/>
                </a:solidFill>
              </a:defRPr>
            </a:defPPr>
            <a:lvl1pPr>
              <a:defRPr sz="1650" b="0">
                <a:solidFill>
                  <a:srgbClr val="44756F"/>
                </a:solidFill>
              </a:defRPr>
            </a:lvl1pPr>
            <a:lvl2pPr>
              <a:defRPr sz="1650" b="0">
                <a:solidFill>
                  <a:srgbClr val="44756F"/>
                </a:solidFill>
              </a:defRPr>
            </a:lvl2pPr>
            <a:lvl3pPr>
              <a:defRPr sz="1650" b="0">
                <a:solidFill>
                  <a:srgbClr val="44756F"/>
                </a:solidFill>
              </a:defRPr>
            </a:lvl3pPr>
            <a:lvl4pPr>
              <a:defRPr sz="1650" b="0">
                <a:solidFill>
                  <a:srgbClr val="44756F"/>
                </a:solidFill>
              </a:defRPr>
            </a:lvl4pPr>
            <a:lvl5pPr>
              <a:defRPr sz="1650" b="0">
                <a:solidFill>
                  <a:srgbClr val="44756F"/>
                </a:solidFill>
              </a:defRPr>
            </a:lvl5pPr>
            <a:lvl6pPr>
              <a:defRPr sz="1650" b="0">
                <a:solidFill>
                  <a:srgbClr val="44756F"/>
                </a:solidFill>
              </a:defRPr>
            </a:lvl6pPr>
            <a:lvl7pPr>
              <a:defRPr sz="1650" b="0">
                <a:solidFill>
                  <a:srgbClr val="44756F"/>
                </a:solidFill>
              </a:defRPr>
            </a:lvl7pPr>
            <a:lvl8pPr>
              <a:defRPr sz="1650" b="0">
                <a:solidFill>
                  <a:srgbClr val="44756F"/>
                </a:solidFill>
              </a:defRPr>
            </a:lvl8pPr>
            <a:lvl9pPr>
              <a:defRPr sz="1650" b="0">
                <a:solidFill>
                  <a:srgbClr val="44756F"/>
                </a:solidFill>
              </a:defRPr>
            </a:lvl9pPr>
          </a:lstStyle>
          <a:p xmlns:a="http://schemas.openxmlformats.org/drawingml/2006/main">
            <a:pPr>
              <a:defRPr sz="1650" b="0">
                <a:solidFill>
                  <a:srgbClr val="44756F"/>
                </a:solidFill>
              </a:defRPr>
            </a:pPr>
            <a:r>
              <a:rPr sz="1650" b="0">
                <a:solidFill>
                  <a:srgbClr val="44756F"/>
                </a:solidFill>
              </a:rPr>
              <a:t>10</a:t>
            </a:r>
          </a:p>
        </p:txBody>
      </p:sp>
      <p:sp>
        <p:nvSpPr>
          <p:cNvPr id="2" name="">
            <a:extLst xmlns:a="http://schemas.openxmlformats.org/drawingml/2006/main">
              <a:ext uri="{FF2B5EF4-FFF2-40B4-BE49-F238E27FC236}">
                <a16:creationId xmlns:a16="http://schemas.microsoft.com/office/drawing/2014/main" id="{5F920E01-94B9-4792-8DAE-C00AA133C434}"/>
              </a:ext>
            </a:extLst>
          </p:cNvPr>
          <p:cNvSpPr>
            <a:spLocks xmlns:a="http://schemas.openxmlformats.org/drawingml/2006/main" noGrp="1"/>
          </p:cNvSpPr>
          <p:nvPr/>
        </p:nvSpPr>
        <p:spPr>
          <a:xfrm xmlns:a="http://schemas.openxmlformats.org/drawingml/2006/main">
            <a:off x="723900" y="10668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132C3B"/>
                </a:solidFill>
              </a:defRPr>
            </a:defPPr>
            <a:lvl1pPr>
              <a:defRPr sz="3900" b="1">
                <a:solidFill>
                  <a:srgbClr val="132C3B"/>
                </a:solidFill>
              </a:defRPr>
            </a:lvl1pPr>
            <a:lvl2pPr>
              <a:defRPr sz="3900" b="1">
                <a:solidFill>
                  <a:srgbClr val="132C3B"/>
                </a:solidFill>
              </a:defRPr>
            </a:lvl2pPr>
            <a:lvl3pPr>
              <a:defRPr sz="3900" b="1">
                <a:solidFill>
                  <a:srgbClr val="132C3B"/>
                </a:solidFill>
              </a:defRPr>
            </a:lvl3pPr>
            <a:lvl4pPr>
              <a:defRPr sz="3900" b="1">
                <a:solidFill>
                  <a:srgbClr val="132C3B"/>
                </a:solidFill>
              </a:defRPr>
            </a:lvl4pPr>
            <a:lvl5pPr>
              <a:defRPr sz="3900" b="1">
                <a:solidFill>
                  <a:srgbClr val="132C3B"/>
                </a:solidFill>
              </a:defRPr>
            </a:lvl5pPr>
            <a:lvl6pPr>
              <a:defRPr sz="3900" b="1">
                <a:solidFill>
                  <a:srgbClr val="132C3B"/>
                </a:solidFill>
              </a:defRPr>
            </a:lvl6pPr>
            <a:lvl7pPr>
              <a:defRPr sz="3900" b="1">
                <a:solidFill>
                  <a:srgbClr val="132C3B"/>
                </a:solidFill>
              </a:defRPr>
            </a:lvl7pPr>
            <a:lvl8pPr>
              <a:defRPr sz="3900" b="1">
                <a:solidFill>
                  <a:srgbClr val="132C3B"/>
                </a:solidFill>
              </a:defRPr>
            </a:lvl8pPr>
            <a:lvl9pPr>
              <a:defRPr sz="3900" b="1">
                <a:solidFill>
                  <a:srgbClr val="132C3B"/>
                </a:solidFill>
              </a:defRPr>
            </a:lvl9pPr>
          </a:lstStyle>
          <a:p xmlns:a="http://schemas.openxmlformats.org/drawingml/2006/main">
            <a:pPr>
              <a:defRPr sz="3900" b="1">
                <a:solidFill>
                  <a:srgbClr val="132C3B"/>
                </a:solidFill>
              </a:defRPr>
            </a:pPr>
            <a:r>
              <a:rPr sz="3900" b="1">
                <a:solidFill>
                  <a:srgbClr val="132C3B"/>
                </a:solidFill>
              </a:rPr>
              <a:t>Live demonstration</a:t>
            </a:r>
          </a:p>
        </p:txBody>
      </p:sp>
      <p:sp>
        <p:nvSpPr>
          <p:cNvPr id="3" name="">
            <a:extLst xmlns:a="http://schemas.openxmlformats.org/drawingml/2006/main">
              <a:ext uri="{FF2B5EF4-FFF2-40B4-BE49-F238E27FC236}">
                <a16:creationId xmlns:a16="http://schemas.microsoft.com/office/drawing/2014/main" id="{9E4031D7-4907-431A-9F92-5E00092F094A}"/>
              </a:ext>
            </a:extLst>
          </p:cNvPr>
          <p:cNvSpPr>
            <a:spLocks xmlns:a="http://schemas.openxmlformats.org/drawingml/2006/main" noGrp="1"/>
          </p:cNvSpPr>
          <p:nvPr/>
        </p:nvSpPr>
        <p:spPr>
          <a:xfrm xmlns:a="http://schemas.openxmlformats.org/drawingml/2006/main">
            <a:off x="762000" y="214312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44756F"/>
                </a:solidFill>
              </a:defRPr>
            </a:defPPr>
            <a:lvl1pPr>
              <a:defRPr sz="2175" b="0">
                <a:solidFill>
                  <a:srgbClr val="44756F"/>
                </a:solidFill>
              </a:defRPr>
            </a:lvl1pPr>
            <a:lvl2pPr>
              <a:defRPr sz="2175" b="0">
                <a:solidFill>
                  <a:srgbClr val="44756F"/>
                </a:solidFill>
              </a:defRPr>
            </a:lvl2pPr>
            <a:lvl3pPr>
              <a:defRPr sz="2175" b="0">
                <a:solidFill>
                  <a:srgbClr val="44756F"/>
                </a:solidFill>
              </a:defRPr>
            </a:lvl3pPr>
            <a:lvl4pPr>
              <a:defRPr sz="2175" b="0">
                <a:solidFill>
                  <a:srgbClr val="44756F"/>
                </a:solidFill>
              </a:defRPr>
            </a:lvl4pPr>
            <a:lvl5pPr>
              <a:defRPr sz="2175" b="0">
                <a:solidFill>
                  <a:srgbClr val="44756F"/>
                </a:solidFill>
              </a:defRPr>
            </a:lvl5pPr>
            <a:lvl6pPr>
              <a:defRPr sz="2175" b="0">
                <a:solidFill>
                  <a:srgbClr val="44756F"/>
                </a:solidFill>
              </a:defRPr>
            </a:lvl6pPr>
            <a:lvl7pPr>
              <a:defRPr sz="2175" b="0">
                <a:solidFill>
                  <a:srgbClr val="44756F"/>
                </a:solidFill>
              </a:defRPr>
            </a:lvl7pPr>
            <a:lvl8pPr>
              <a:defRPr sz="2175" b="0">
                <a:solidFill>
                  <a:srgbClr val="44756F"/>
                </a:solidFill>
              </a:defRPr>
            </a:lvl8pPr>
            <a:lvl9pPr>
              <a:defRPr sz="2175" b="0">
                <a:solidFill>
                  <a:srgbClr val="44756F"/>
                </a:solidFill>
              </a:defRPr>
            </a:lvl9pPr>
          </a:lstStyle>
          <a:p xmlns:a="http://schemas.openxmlformats.org/drawingml/2006/main">
            <a:pPr>
              <a:defRPr sz="2175" b="0">
                <a:solidFill>
                  <a:srgbClr val="44756F"/>
                </a:solidFill>
              </a:defRPr>
            </a:pPr>
            <a:r>
              <a:rPr sz="2175" b="0">
                <a:solidFill>
                  <a:srgbClr val="44756F"/>
                </a:solidFill>
              </a:rPr>
              <a:t>A complete example in the console</a:t>
            </a:r>
          </a:p>
        </p:txBody>
      </p:sp>
      <p:sp>
        <p:nvSpPr>
          <p:cNvPr id="4" name="">
            <a:extLst xmlns:a="http://schemas.openxmlformats.org/drawingml/2006/main">
              <a:ext uri="{FF2B5EF4-FFF2-40B4-BE49-F238E27FC236}">
                <a16:creationId xmlns:a16="http://schemas.microsoft.com/office/drawing/2014/main" id="{AFFABDA7-8D63-49A5-B135-BE1FA88AA8B9}"/>
              </a:ext>
            </a:extLst>
          </p:cNvPr>
          <p:cNvSpPr>
            <a:spLocks xmlns:a="http://schemas.openxmlformats.org/drawingml/2006/main" noGrp="1"/>
          </p:cNvSpPr>
          <p:nvPr/>
        </p:nvSpPr>
        <p:spPr>
          <a:xfrm xmlns:a="http://schemas.openxmlformats.org/drawingml/2006/main">
            <a:off x="762000" y="31432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Show customers and the catalog</a:t>
            </a:r>
          </a:p>
        </p:txBody>
      </p:sp>
      <p:sp>
        <p:nvSpPr>
          <p:cNvPr id="5" name="">
            <a:extLst xmlns:a="http://schemas.openxmlformats.org/drawingml/2006/main">
              <a:ext uri="{FF2B5EF4-FFF2-40B4-BE49-F238E27FC236}">
                <a16:creationId xmlns:a16="http://schemas.microsoft.com/office/drawing/2014/main" id="{6C5F2D66-6289-4278-8336-B0F3650E4108}"/>
              </a:ext>
            </a:extLst>
          </p:cNvPr>
          <p:cNvSpPr>
            <a:spLocks xmlns:a="http://schemas.openxmlformats.org/drawingml/2006/main" noGrp="1"/>
          </p:cNvSpPr>
          <p:nvPr/>
        </p:nvSpPr>
        <p:spPr>
          <a:xfrm xmlns:a="http://schemas.openxmlformats.org/drawingml/2006/main">
            <a:off x="762000" y="36957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Open an order and its payment</a:t>
            </a:r>
          </a:p>
        </p:txBody>
      </p:sp>
      <p:sp>
        <p:nvSpPr>
          <p:cNvPr id="6" name="">
            <a:extLst xmlns:a="http://schemas.openxmlformats.org/drawingml/2006/main">
              <a:ext uri="{FF2B5EF4-FFF2-40B4-BE49-F238E27FC236}">
                <a16:creationId xmlns:a16="http://schemas.microsoft.com/office/drawing/2014/main" id="{5632ACAA-A3D8-445C-9C6E-F893FD693BE6}"/>
              </a:ext>
            </a:extLst>
          </p:cNvPr>
          <p:cNvSpPr>
            <a:spLocks xmlns:a="http://schemas.openxmlformats.org/drawingml/2006/main" noGrp="1"/>
          </p:cNvSpPr>
          <p:nvPr/>
        </p:nvSpPr>
        <p:spPr>
          <a:xfrm xmlns:a="http://schemas.openxmlformats.org/drawingml/2006/main">
            <a:off x="762000" y="42481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Check the cash balance</a:t>
            </a:r>
          </a:p>
        </p:txBody>
      </p:sp>
      <p:sp>
        <p:nvSpPr>
          <p:cNvPr id="7" name="">
            <a:extLst xmlns:a="http://schemas.openxmlformats.org/drawingml/2006/main">
              <a:ext uri="{FF2B5EF4-FFF2-40B4-BE49-F238E27FC236}">
                <a16:creationId xmlns:a16="http://schemas.microsoft.com/office/drawing/2014/main" id="{3FDEF7F9-BE5A-4829-9F39-BC604CA01D20}"/>
              </a:ext>
            </a:extLst>
          </p:cNvPr>
          <p:cNvSpPr>
            <a:spLocks xmlns:a="http://schemas.openxmlformats.org/drawingml/2006/main" noGrp="1"/>
          </p:cNvSpPr>
          <p:nvPr/>
        </p:nvSpPr>
        <p:spPr>
          <a:xfrm xmlns:a="http://schemas.openxmlformats.org/drawingml/2006/main">
            <a:off x="762000" y="48006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C3B"/>
                </a:solidFill>
              </a:defRPr>
            </a:defPPr>
            <a:lvl1pPr>
              <a:defRPr sz="2175" b="0">
                <a:solidFill>
                  <a:srgbClr val="132C3B"/>
                </a:solidFill>
              </a:defRPr>
            </a:lvl1pPr>
            <a:lvl2pPr>
              <a:defRPr sz="2175" b="0">
                <a:solidFill>
                  <a:srgbClr val="132C3B"/>
                </a:solidFill>
              </a:defRPr>
            </a:lvl2pPr>
            <a:lvl3pPr>
              <a:defRPr sz="2175" b="0">
                <a:solidFill>
                  <a:srgbClr val="132C3B"/>
                </a:solidFill>
              </a:defRPr>
            </a:lvl3pPr>
            <a:lvl4pPr>
              <a:defRPr sz="2175" b="0">
                <a:solidFill>
                  <a:srgbClr val="132C3B"/>
                </a:solidFill>
              </a:defRPr>
            </a:lvl4pPr>
            <a:lvl5pPr>
              <a:defRPr sz="2175" b="0">
                <a:solidFill>
                  <a:srgbClr val="132C3B"/>
                </a:solidFill>
              </a:defRPr>
            </a:lvl5pPr>
            <a:lvl6pPr>
              <a:defRPr sz="2175" b="0">
                <a:solidFill>
                  <a:srgbClr val="132C3B"/>
                </a:solidFill>
              </a:defRPr>
            </a:lvl6pPr>
            <a:lvl7pPr>
              <a:defRPr sz="2175" b="0">
                <a:solidFill>
                  <a:srgbClr val="132C3B"/>
                </a:solidFill>
              </a:defRPr>
            </a:lvl7pPr>
            <a:lvl8pPr>
              <a:defRPr sz="2175" b="0">
                <a:solidFill>
                  <a:srgbClr val="132C3B"/>
                </a:solidFill>
              </a:defRPr>
            </a:lvl8pPr>
            <a:lvl9pPr>
              <a:defRPr sz="2175" b="0">
                <a:solidFill>
                  <a:srgbClr val="132C3B"/>
                </a:solidFill>
              </a:defRPr>
            </a:lvl9pPr>
          </a:lstStyle>
          <a:p xmlns:a="http://schemas.openxmlformats.org/drawingml/2006/main">
            <a:pPr>
              <a:defRPr sz="2175" b="0">
                <a:solidFill>
                  <a:srgbClr val="132C3B"/>
                </a:solidFill>
              </a:defRPr>
            </a:pPr>
            <a:r>
              <a:rPr sz="2175" b="0">
                <a:solidFill>
                  <a:srgbClr val="132C3B"/>
                </a:solidFill>
              </a:rPr>
              <a:t>Export a report and show the JSON files</a:t>
            </a:r>
          </a:p>
        </p:txBody>
      </p:sp>
    </p:spTree>
    <p:extLst>
      <p:ext uri="{BB962C8B-B14F-4D97-AF65-F5344CB8AC3E}">
        <p14:creationId xmlns:p14="http://schemas.microsoft.com/office/powerpoint/2010/main" val="20066660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2026-10-28T14:00:44.6040000Z</dcterms:created>
  <dcterms:modified xsi:type="dcterms:W3CDTF">2026-10-28T14:00:44.6040000Z</dcterms:modified>
</coreProperties>
</file>